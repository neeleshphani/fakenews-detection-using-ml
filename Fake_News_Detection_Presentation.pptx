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37160" cy="3474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10058400" cy="3474720"/>
          </a:xfrm>
          <a:prstGeom prst="rect">
            <a:avLst/>
          </a:prstGeom>
          <a:noFill/>
        </p:spPr>
        <p:txBody>
          <a:bodyPr wrap="square">
            <a:spAutoFit/>
          </a:bodyPr>
          <a:lstStyle/>
          <a:p>
            <a:pPr>
              <a:defRPr sz="1300" b="1">
                <a:solidFill>
                  <a:srgbClr val="2563EB"/>
                </a:solidFill>
                <a:latin typeface="Segoe UI"/>
              </a:defRPr>
            </a:pPr>
            <a:r>
              <a:t>MAJOR PROJECT REVIEW / PRESENTATION</a:t>
            </a:r>
          </a:p>
          <a:p>
            <a:pPr>
              <a:defRPr sz="3600" b="1">
                <a:solidFill>
                  <a:srgbClr val="FFFFFF"/>
                </a:solidFill>
                <a:latin typeface="Segoe UI"/>
              </a:defRPr>
            </a:pPr>
            <a:r>
              <a:t>Autonomous Fake News Detection System</a:t>
            </a:r>
          </a:p>
          <a:p>
            <a:pPr>
              <a:defRPr sz="2000">
                <a:solidFill>
                  <a:srgbClr val="CBD5E1"/>
                </a:solidFill>
                <a:latin typeface="Segoe UI"/>
              </a:defRPr>
            </a:pPr>
            <a:r>
              <a:t>Hybrid Machine Learning with Real-Time Live Web Fact Verification</a:t>
            </a:r>
          </a:p>
          <a:p>
            <a:br/>
            <a:pPr>
              <a:defRPr sz="1300">
                <a:solidFill>
                  <a:srgbClr val="94A3B8"/>
                </a:solidFill>
                <a:latin typeface="Segoe UI"/>
              </a:defRPr>
            </a:pPr>
            <a:r>
              <a:t>Domain: Artificial Intelligence, Machine Learning &amp; Natural Language Processing</a:t>
            </a:r>
          </a:p>
        </p:txBody>
      </p:sp>
      <p:sp>
        <p:nvSpPr>
          <p:cNvPr id="5" name="Rounded Rectangle 4"/>
          <p:cNvSpPr/>
          <p:nvPr/>
        </p:nvSpPr>
        <p:spPr>
          <a:xfrm>
            <a:off x="1097280" y="5120640"/>
            <a:ext cx="10058400" cy="10972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5212080"/>
            <a:ext cx="9692640" cy="914400"/>
          </a:xfrm>
          <a:prstGeom prst="rect">
            <a:avLst/>
          </a:prstGeom>
          <a:noFill/>
        </p:spPr>
        <p:txBody>
          <a:bodyPr wrap="square">
            <a:spAutoFit/>
          </a:bodyPr>
          <a:lstStyle/>
          <a:p>
            <a:pPr>
              <a:defRPr sz="1200" b="1">
                <a:solidFill>
                  <a:srgbClr val="FFFFFF"/>
                </a:solidFill>
                <a:latin typeface="Segoe UI"/>
              </a:defRPr>
            </a:pPr>
            <a:r>
              <a:t>System Components: Streamlit Web Framework | Scikit-Learn Linear SVM (95.34% Acc) | Live Wikipedia Web API</a:t>
            </a:r>
          </a:p>
          <a:p>
            <a:pPr>
              <a:defRPr sz="1100">
                <a:solidFill>
                  <a:srgbClr val="94A3B8"/>
                </a:solidFill>
                <a:latin typeface="Segoe UI"/>
              </a:defRPr>
            </a:pPr>
            <a:r>
              <a:t>Department of Computer Science &amp; Engineering | Academic Project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2563EB"/>
                </a:solidFill>
                <a:latin typeface="Segoe UI"/>
              </a:defRPr>
            </a:pPr>
            <a:r>
              <a:t>FAKE NEWS DETECTION SYSTEM</a:t>
            </a:r>
          </a:p>
          <a:p>
            <a:pPr>
              <a:defRPr sz="2600" b="1">
                <a:solidFill>
                  <a:srgbClr val="0F172A"/>
                </a:solidFill>
                <a:latin typeface="Segoe UI"/>
              </a:defRPr>
            </a:pPr>
            <a:r>
              <a:t>Presentation Agenda &amp; Project Roadmap</a:t>
            </a:r>
          </a:p>
        </p:txBody>
      </p:sp>
      <p:sp>
        <p:nvSpPr>
          <p:cNvPr id="3" name="TextBox 2"/>
          <p:cNvSpPr txBox="1"/>
          <p:nvPr/>
        </p:nvSpPr>
        <p:spPr>
          <a:xfrm>
            <a:off x="731520" y="6400800"/>
            <a:ext cx="10728655" cy="365760"/>
          </a:xfrm>
          <a:prstGeom prst="rect">
            <a:avLst/>
          </a:prstGeom>
          <a:noFill/>
        </p:spPr>
        <p:txBody>
          <a:bodyPr wrap="none" lIns="0" tIns="0" rIns="0" bIns="0">
            <a:spAutoFit/>
          </a:bodyPr>
          <a:lstStyle/>
          <a:p>
            <a:pPr>
              <a:defRPr sz="1000">
                <a:solidFill>
                  <a:srgbClr val="94A3B8"/>
                </a:solidFill>
                <a:latin typeface="Segoe UI"/>
              </a:defRPr>
            </a:pPr>
            <a:r>
              <a:t>Autonomous Fake News Detection System | Hybrid ML &amp; Real-Time Live Web Verification               Slide 2</a:t>
            </a:r>
          </a:p>
        </p:txBody>
      </p:sp>
      <p:sp>
        <p:nvSpPr>
          <p:cNvPr id="4" name="Rounded Rectangle 3"/>
          <p:cNvSpPr/>
          <p:nvPr/>
        </p:nvSpPr>
        <p:spPr>
          <a:xfrm>
            <a:off x="731520" y="1554480"/>
            <a:ext cx="5212080" cy="685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27632"/>
            <a:ext cx="4937760" cy="548640"/>
          </a:xfrm>
          <a:prstGeom prst="rect">
            <a:avLst/>
          </a:prstGeom>
          <a:noFill/>
        </p:spPr>
        <p:txBody>
          <a:bodyPr wrap="square" tIns="0" bIns="0" lIns="0" rIns="0">
            <a:spAutoFit/>
          </a:bodyPr>
          <a:lstStyle/>
          <a:p>
            <a:pPr>
              <a:defRPr sz="1300" b="1">
                <a:solidFill>
                  <a:srgbClr val="2563EB"/>
                </a:solidFill>
                <a:latin typeface="Segoe UI"/>
              </a:defRPr>
            </a:pPr>
            <a:r>
              <a:t>01. Introduction &amp; Motivation</a:t>
            </a:r>
          </a:p>
          <a:p>
            <a:pPr>
              <a:defRPr sz="1000">
                <a:solidFill>
                  <a:srgbClr val="475569"/>
                </a:solidFill>
                <a:latin typeface="Segoe UI"/>
              </a:defRPr>
            </a:pPr>
            <a:r>
              <a:t>The challenge of viral misinformation &amp; why static ML models fail alone.</a:t>
            </a:r>
          </a:p>
        </p:txBody>
      </p:sp>
      <p:sp>
        <p:nvSpPr>
          <p:cNvPr id="6" name="Rounded Rectangle 5"/>
          <p:cNvSpPr/>
          <p:nvPr/>
        </p:nvSpPr>
        <p:spPr>
          <a:xfrm>
            <a:off x="731520" y="2331720"/>
            <a:ext cx="5212080" cy="685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404872"/>
            <a:ext cx="4937760" cy="548640"/>
          </a:xfrm>
          <a:prstGeom prst="rect">
            <a:avLst/>
          </a:prstGeom>
          <a:noFill/>
        </p:spPr>
        <p:txBody>
          <a:bodyPr wrap="square" tIns="0" bIns="0" lIns="0" rIns="0">
            <a:spAutoFit/>
          </a:bodyPr>
          <a:lstStyle/>
          <a:p>
            <a:pPr>
              <a:defRPr sz="1300" b="1">
                <a:solidFill>
                  <a:srgbClr val="2563EB"/>
                </a:solidFill>
                <a:latin typeface="Segoe UI"/>
              </a:defRPr>
            </a:pPr>
            <a:r>
              <a:t>02. Problem Definition &amp; Limitations</a:t>
            </a:r>
          </a:p>
          <a:p>
            <a:pPr>
              <a:defRPr sz="1000">
                <a:solidFill>
                  <a:srgbClr val="475569"/>
                </a:solidFill>
                <a:latin typeface="Segoe UI"/>
              </a:defRPr>
            </a:pPr>
            <a:r>
              <a:t>Outdated knowledge bases, black-box labels, and undetected entity swaps.</a:t>
            </a:r>
          </a:p>
        </p:txBody>
      </p:sp>
      <p:sp>
        <p:nvSpPr>
          <p:cNvPr id="8" name="Rounded Rectangle 7"/>
          <p:cNvSpPr/>
          <p:nvPr/>
        </p:nvSpPr>
        <p:spPr>
          <a:xfrm>
            <a:off x="731520" y="3108960"/>
            <a:ext cx="5212080" cy="685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82112"/>
            <a:ext cx="4937760" cy="548640"/>
          </a:xfrm>
          <a:prstGeom prst="rect">
            <a:avLst/>
          </a:prstGeom>
          <a:noFill/>
        </p:spPr>
        <p:txBody>
          <a:bodyPr wrap="square" tIns="0" bIns="0" lIns="0" rIns="0">
            <a:spAutoFit/>
          </a:bodyPr>
          <a:lstStyle/>
          <a:p>
            <a:pPr>
              <a:defRPr sz="1300" b="1">
                <a:solidFill>
                  <a:srgbClr val="2563EB"/>
                </a:solidFill>
                <a:latin typeface="Segoe UI"/>
              </a:defRPr>
            </a:pPr>
            <a:r>
              <a:t>03. Proposed Hybrid Solution</a:t>
            </a:r>
          </a:p>
          <a:p>
            <a:pPr>
              <a:defRPr sz="1000">
                <a:solidFill>
                  <a:srgbClr val="475569"/>
                </a:solidFill>
                <a:latin typeface="Segoe UI"/>
              </a:defRPr>
            </a:pPr>
            <a:r>
              <a:t>Dual-engine architecture: Statistical SVM + Real-Time Live Web Fact Verification.</a:t>
            </a:r>
          </a:p>
        </p:txBody>
      </p:sp>
      <p:sp>
        <p:nvSpPr>
          <p:cNvPr id="10" name="Rounded Rectangle 9"/>
          <p:cNvSpPr/>
          <p:nvPr/>
        </p:nvSpPr>
        <p:spPr>
          <a:xfrm>
            <a:off x="731520" y="3886200"/>
            <a:ext cx="5212080" cy="685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959352"/>
            <a:ext cx="4937760" cy="548640"/>
          </a:xfrm>
          <a:prstGeom prst="rect">
            <a:avLst/>
          </a:prstGeom>
          <a:noFill/>
        </p:spPr>
        <p:txBody>
          <a:bodyPr wrap="square" tIns="0" bIns="0" lIns="0" rIns="0">
            <a:spAutoFit/>
          </a:bodyPr>
          <a:lstStyle/>
          <a:p>
            <a:pPr>
              <a:defRPr sz="1300" b="1">
                <a:solidFill>
                  <a:srgbClr val="2563EB"/>
                </a:solidFill>
                <a:latin typeface="Segoe UI"/>
              </a:defRPr>
            </a:pPr>
            <a:r>
              <a:t>04. System Workflow &amp; Pipeline</a:t>
            </a:r>
          </a:p>
          <a:p>
            <a:pPr>
              <a:defRPr sz="1000">
                <a:solidFill>
                  <a:srgbClr val="475569"/>
                </a:solidFill>
                <a:latin typeface="Segoe UI"/>
              </a:defRPr>
            </a:pPr>
            <a:r>
              <a:t>Step-by-step pipeline from gibberish filtering to ground-truth citation.</a:t>
            </a:r>
          </a:p>
        </p:txBody>
      </p:sp>
      <p:sp>
        <p:nvSpPr>
          <p:cNvPr id="12" name="Rounded Rectangle 11"/>
          <p:cNvSpPr/>
          <p:nvPr/>
        </p:nvSpPr>
        <p:spPr>
          <a:xfrm>
            <a:off x="731520" y="4663440"/>
            <a:ext cx="5212080" cy="685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736592"/>
            <a:ext cx="4937760" cy="548640"/>
          </a:xfrm>
          <a:prstGeom prst="rect">
            <a:avLst/>
          </a:prstGeom>
          <a:noFill/>
        </p:spPr>
        <p:txBody>
          <a:bodyPr wrap="square" tIns="0" bIns="0" lIns="0" rIns="0">
            <a:spAutoFit/>
          </a:bodyPr>
          <a:lstStyle/>
          <a:p>
            <a:pPr>
              <a:defRPr sz="1300" b="1">
                <a:solidFill>
                  <a:srgbClr val="2563EB"/>
                </a:solidFill>
                <a:latin typeface="Segoe UI"/>
              </a:defRPr>
            </a:pPr>
            <a:r>
              <a:t>05. Dataset &amp; Knowledge Base</a:t>
            </a:r>
          </a:p>
          <a:p>
            <a:pPr>
              <a:defRPr sz="1000">
                <a:solidFill>
                  <a:srgbClr val="475569"/>
                </a:solidFill>
                <a:latin typeface="Segoe UI"/>
              </a:defRPr>
            </a:pPr>
            <a:r>
              <a:t>Indian Fake News Dataset (56,714 articles) &amp; Live Wikipedia API.</a:t>
            </a:r>
          </a:p>
        </p:txBody>
      </p:sp>
      <p:sp>
        <p:nvSpPr>
          <p:cNvPr id="14" name="Rounded Rectangle 13"/>
          <p:cNvSpPr/>
          <p:nvPr/>
        </p:nvSpPr>
        <p:spPr>
          <a:xfrm>
            <a:off x="731520" y="5440680"/>
            <a:ext cx="5212080" cy="685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13832"/>
            <a:ext cx="4937760" cy="548640"/>
          </a:xfrm>
          <a:prstGeom prst="rect">
            <a:avLst/>
          </a:prstGeom>
          <a:noFill/>
        </p:spPr>
        <p:txBody>
          <a:bodyPr wrap="square" tIns="0" bIns="0" lIns="0" rIns="0">
            <a:spAutoFit/>
          </a:bodyPr>
          <a:lstStyle/>
          <a:p>
            <a:pPr>
              <a:defRPr sz="1300" b="1">
                <a:solidFill>
                  <a:srgbClr val="2563EB"/>
                </a:solidFill>
                <a:latin typeface="Segoe UI"/>
              </a:defRPr>
            </a:pPr>
            <a:r>
              <a:t>06. System Architecture &amp; Modules</a:t>
            </a:r>
          </a:p>
          <a:p>
            <a:pPr>
              <a:defRPr sz="1000">
                <a:solidFill>
                  <a:srgbClr val="475569"/>
                </a:solidFill>
                <a:latin typeface="Segoe UI"/>
              </a:defRPr>
            </a:pPr>
            <a:r>
              <a:t>Detailed component design: Preprocessing, FactChecker, ML, Web UI.</a:t>
            </a:r>
          </a:p>
        </p:txBody>
      </p:sp>
      <p:sp>
        <p:nvSpPr>
          <p:cNvPr id="16" name="Rounded Rectangle 15"/>
          <p:cNvSpPr/>
          <p:nvPr/>
        </p:nvSpPr>
        <p:spPr>
          <a:xfrm>
            <a:off x="6126480" y="1554480"/>
            <a:ext cx="5212080" cy="685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627632"/>
            <a:ext cx="4937760" cy="548640"/>
          </a:xfrm>
          <a:prstGeom prst="rect">
            <a:avLst/>
          </a:prstGeom>
          <a:noFill/>
        </p:spPr>
        <p:txBody>
          <a:bodyPr wrap="square" tIns="0" bIns="0" lIns="0" rIns="0">
            <a:spAutoFit/>
          </a:bodyPr>
          <a:lstStyle/>
          <a:p>
            <a:pPr>
              <a:defRPr sz="1300" b="1">
                <a:solidFill>
                  <a:srgbClr val="2563EB"/>
                </a:solidFill>
                <a:latin typeface="Segoe UI"/>
              </a:defRPr>
            </a:pPr>
            <a:r>
              <a:t>07. Machine Learning &amp; NLP</a:t>
            </a:r>
          </a:p>
          <a:p>
            <a:pPr>
              <a:defRPr sz="1000">
                <a:solidFill>
                  <a:srgbClr val="475569"/>
                </a:solidFill>
                <a:latin typeface="Segoe UI"/>
              </a:defRPr>
            </a:pPr>
            <a:r>
              <a:t>TF-IDF N-grams (24,305 features), Linear SVM, Probability Calibration.</a:t>
            </a:r>
          </a:p>
        </p:txBody>
      </p:sp>
      <p:sp>
        <p:nvSpPr>
          <p:cNvPr id="18" name="Rounded Rectangle 17"/>
          <p:cNvSpPr/>
          <p:nvPr/>
        </p:nvSpPr>
        <p:spPr>
          <a:xfrm>
            <a:off x="6126480" y="2331720"/>
            <a:ext cx="5212080" cy="685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2404872"/>
            <a:ext cx="4937760" cy="548640"/>
          </a:xfrm>
          <a:prstGeom prst="rect">
            <a:avLst/>
          </a:prstGeom>
          <a:noFill/>
        </p:spPr>
        <p:txBody>
          <a:bodyPr wrap="square" tIns="0" bIns="0" lIns="0" rIns="0">
            <a:spAutoFit/>
          </a:bodyPr>
          <a:lstStyle/>
          <a:p>
            <a:pPr>
              <a:defRPr sz="1300" b="1">
                <a:solidFill>
                  <a:srgbClr val="2563EB"/>
                </a:solidFill>
                <a:latin typeface="Segoe UI"/>
              </a:defRPr>
            </a:pPr>
            <a:r>
              <a:t>08. Live Web Verification Engine</a:t>
            </a:r>
          </a:p>
          <a:p>
            <a:pPr>
              <a:defRPr sz="1000">
                <a:solidFill>
                  <a:srgbClr val="475569"/>
                </a:solidFill>
                <a:latin typeface="Segoe UI"/>
              </a:defRPr>
            </a:pPr>
            <a:r>
              <a:t>Multi-domain extractors for Cinema, Corporate, Politics, Geography &amp; Science.</a:t>
            </a:r>
          </a:p>
        </p:txBody>
      </p:sp>
      <p:sp>
        <p:nvSpPr>
          <p:cNvPr id="20" name="Rounded Rectangle 19"/>
          <p:cNvSpPr/>
          <p:nvPr/>
        </p:nvSpPr>
        <p:spPr>
          <a:xfrm>
            <a:off x="6126480" y="3108960"/>
            <a:ext cx="5212080" cy="685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3182112"/>
            <a:ext cx="4937760" cy="548640"/>
          </a:xfrm>
          <a:prstGeom prst="rect">
            <a:avLst/>
          </a:prstGeom>
          <a:noFill/>
        </p:spPr>
        <p:txBody>
          <a:bodyPr wrap="square" tIns="0" bIns="0" lIns="0" rIns="0">
            <a:spAutoFit/>
          </a:bodyPr>
          <a:lstStyle/>
          <a:p>
            <a:pPr>
              <a:defRPr sz="1300" b="1">
                <a:solidFill>
                  <a:srgbClr val="2563EB"/>
                </a:solidFill>
                <a:latin typeface="Segoe UI"/>
              </a:defRPr>
            </a:pPr>
            <a:r>
              <a:t>09. Strict Entity Matching Algorithm</a:t>
            </a:r>
          </a:p>
          <a:p>
            <a:pPr>
              <a:defRPr sz="1000">
                <a:solidFill>
                  <a:srgbClr val="475569"/>
                </a:solidFill>
                <a:latin typeface="Segoe UI"/>
              </a:defRPr>
            </a:pPr>
            <a:r>
              <a:t>Token subset &amp; phonetic distance preventing false positives &amp; handling typos.</a:t>
            </a:r>
          </a:p>
        </p:txBody>
      </p:sp>
      <p:sp>
        <p:nvSpPr>
          <p:cNvPr id="22" name="Rounded Rectangle 21"/>
          <p:cNvSpPr/>
          <p:nvPr/>
        </p:nvSpPr>
        <p:spPr>
          <a:xfrm>
            <a:off x="6126480" y="3886200"/>
            <a:ext cx="5212080" cy="685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3640" y="3959352"/>
            <a:ext cx="4937760" cy="548640"/>
          </a:xfrm>
          <a:prstGeom prst="rect">
            <a:avLst/>
          </a:prstGeom>
          <a:noFill/>
        </p:spPr>
        <p:txBody>
          <a:bodyPr wrap="square" tIns="0" bIns="0" lIns="0" rIns="0">
            <a:spAutoFit/>
          </a:bodyPr>
          <a:lstStyle/>
          <a:p>
            <a:pPr>
              <a:defRPr sz="1300" b="1">
                <a:solidFill>
                  <a:srgbClr val="2563EB"/>
                </a:solidFill>
                <a:latin typeface="Segoe UI"/>
              </a:defRPr>
            </a:pPr>
            <a:r>
              <a:t>10. Output &amp; Explainable UI</a:t>
            </a:r>
          </a:p>
          <a:p>
            <a:pPr>
              <a:defRPr sz="1000">
                <a:solidFill>
                  <a:srgbClr val="475569"/>
                </a:solidFill>
                <a:latin typeface="Segoe UI"/>
              </a:defRPr>
            </a:pPr>
            <a:r>
              <a:t>Streamlit dashboard, color-coded visual cards, and verified ground-truth quotes.</a:t>
            </a:r>
          </a:p>
        </p:txBody>
      </p:sp>
      <p:sp>
        <p:nvSpPr>
          <p:cNvPr id="24" name="Rounded Rectangle 23"/>
          <p:cNvSpPr/>
          <p:nvPr/>
        </p:nvSpPr>
        <p:spPr>
          <a:xfrm>
            <a:off x="6126480" y="4663440"/>
            <a:ext cx="5212080" cy="685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4736592"/>
            <a:ext cx="4937760" cy="548640"/>
          </a:xfrm>
          <a:prstGeom prst="rect">
            <a:avLst/>
          </a:prstGeom>
          <a:noFill/>
        </p:spPr>
        <p:txBody>
          <a:bodyPr wrap="square" tIns="0" bIns="0" lIns="0" rIns="0">
            <a:spAutoFit/>
          </a:bodyPr>
          <a:lstStyle/>
          <a:p>
            <a:pPr>
              <a:defRPr sz="1300" b="1">
                <a:solidFill>
                  <a:srgbClr val="2563EB"/>
                </a:solidFill>
                <a:latin typeface="Segoe UI"/>
              </a:defRPr>
            </a:pPr>
            <a:r>
              <a:t>11. Evaluation Results &amp; Metrics</a:t>
            </a:r>
          </a:p>
          <a:p>
            <a:pPr>
              <a:defRPr sz="1000">
                <a:solidFill>
                  <a:srgbClr val="475569"/>
                </a:solidFill>
                <a:latin typeface="Segoe UI"/>
              </a:defRPr>
            </a:pPr>
            <a:r>
              <a:t>95.34% Accuracy, 96.56% F1-score, Confusion Matrix &amp; Baseline Comparisons.</a:t>
            </a:r>
          </a:p>
        </p:txBody>
      </p:sp>
      <p:sp>
        <p:nvSpPr>
          <p:cNvPr id="26" name="Rounded Rectangle 25"/>
          <p:cNvSpPr/>
          <p:nvPr/>
        </p:nvSpPr>
        <p:spPr>
          <a:xfrm>
            <a:off x="6126480" y="5440680"/>
            <a:ext cx="5212080" cy="685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5513832"/>
            <a:ext cx="4937760" cy="548640"/>
          </a:xfrm>
          <a:prstGeom prst="rect">
            <a:avLst/>
          </a:prstGeom>
          <a:noFill/>
        </p:spPr>
        <p:txBody>
          <a:bodyPr wrap="square" tIns="0" bIns="0" lIns="0" rIns="0">
            <a:spAutoFit/>
          </a:bodyPr>
          <a:lstStyle/>
          <a:p>
            <a:pPr>
              <a:defRPr sz="1300" b="1">
                <a:solidFill>
                  <a:srgbClr val="2563EB"/>
                </a:solidFill>
                <a:latin typeface="Segoe UI"/>
              </a:defRPr>
            </a:pPr>
            <a:r>
              <a:t>12. Conclusion &amp; Future Scope</a:t>
            </a:r>
          </a:p>
          <a:p>
            <a:pPr>
              <a:defRPr sz="1000">
                <a:solidFill>
                  <a:srgbClr val="475569"/>
                </a:solidFill>
                <a:latin typeface="Segoe UI"/>
              </a:defRPr>
            </a:pPr>
            <a:r>
              <a:t>Key technical achievements, edge-case robustness, and future expansion.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2563EB"/>
                </a:solidFill>
                <a:latin typeface="Segoe UI"/>
              </a:defRPr>
            </a:pPr>
            <a:r>
              <a:t>FAKE NEWS DETECTION SYSTEM</a:t>
            </a:r>
          </a:p>
          <a:p>
            <a:pPr>
              <a:defRPr sz="2600" b="1">
                <a:solidFill>
                  <a:srgbClr val="0F172A"/>
                </a:solidFill>
                <a:latin typeface="Segoe UI"/>
              </a:defRPr>
            </a:pPr>
            <a:r>
              <a:t>Introduction: The Misinformation Epidemic</a:t>
            </a:r>
          </a:p>
        </p:txBody>
      </p:sp>
      <p:sp>
        <p:nvSpPr>
          <p:cNvPr id="3" name="TextBox 2"/>
          <p:cNvSpPr txBox="1"/>
          <p:nvPr/>
        </p:nvSpPr>
        <p:spPr>
          <a:xfrm>
            <a:off x="731520" y="6400800"/>
            <a:ext cx="10728655" cy="365760"/>
          </a:xfrm>
          <a:prstGeom prst="rect">
            <a:avLst/>
          </a:prstGeom>
          <a:noFill/>
        </p:spPr>
        <p:txBody>
          <a:bodyPr wrap="none" lIns="0" tIns="0" rIns="0" bIns="0">
            <a:spAutoFit/>
          </a:bodyPr>
          <a:lstStyle/>
          <a:p>
            <a:pPr>
              <a:defRPr sz="1000">
                <a:solidFill>
                  <a:srgbClr val="94A3B8"/>
                </a:solidFill>
                <a:latin typeface="Segoe UI"/>
              </a:defRPr>
            </a:pPr>
            <a:r>
              <a:t>Autonomous Fake News Detection System | Hybrid ML &amp; Real-Time Live Web Verification               Slide 3</a:t>
            </a:r>
          </a:p>
        </p:txBody>
      </p:sp>
      <p:sp>
        <p:nvSpPr>
          <p:cNvPr id="4" name="Rounded Rectangle 3"/>
          <p:cNvSpPr/>
          <p:nvPr/>
        </p:nvSpPr>
        <p:spPr>
          <a:xfrm>
            <a:off x="731520" y="1645920"/>
            <a:ext cx="347472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3474720"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19"/>
            <a:ext cx="3017520" cy="4114800"/>
          </a:xfrm>
          <a:prstGeom prst="rect">
            <a:avLst/>
          </a:prstGeom>
          <a:noFill/>
        </p:spPr>
        <p:txBody>
          <a:bodyPr wrap="square">
            <a:spAutoFit/>
          </a:bodyPr>
          <a:lstStyle/>
          <a:p>
            <a:pPr>
              <a:defRPr sz="1000" b="1">
                <a:solidFill>
                  <a:srgbClr val="2563EB"/>
                </a:solidFill>
              </a:defRPr>
            </a:pPr>
            <a:r>
              <a:t>THE GROWING CHALLENGE</a:t>
            </a:r>
          </a:p>
          <a:p>
            <a:pPr>
              <a:defRPr sz="1600" b="1">
                <a:solidFill>
                  <a:srgbClr val="0F172A"/>
                </a:solidFill>
              </a:defRPr>
            </a:pPr>
            <a:r>
              <a:t>Rapid Spread of Fake News</a:t>
            </a:r>
          </a:p>
          <a:p>
            <a:pPr>
              <a:defRPr sz="1100">
                <a:solidFill>
                  <a:srgbClr val="475569"/>
                </a:solidFill>
              </a:defRPr>
            </a:pPr>
            <a:r>
              <a:t>The digital age has democratized news publishing, allowing misinformation, deceptive propaganda, and unverified rumors to spread exponentially across social media and messaging platforms.</a:t>
            </a:r>
            <a:br/>
            <a:br/>
            <a:r>
              <a:t>Real-World Consequences:</a:t>
            </a:r>
            <a:br/>
            <a:r>
              <a:t>Manipulated public opinion, market panic, political destabilization, and widespread social unrest.</a:t>
            </a:r>
          </a:p>
        </p:txBody>
      </p:sp>
      <p:sp>
        <p:nvSpPr>
          <p:cNvPr id="7" name="Rounded Rectangle 6"/>
          <p:cNvSpPr/>
          <p:nvPr/>
        </p:nvSpPr>
        <p:spPr>
          <a:xfrm>
            <a:off x="4343400" y="1645920"/>
            <a:ext cx="347472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43400" y="1645920"/>
            <a:ext cx="3474720" cy="91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74519"/>
            <a:ext cx="3017520" cy="4114800"/>
          </a:xfrm>
          <a:prstGeom prst="rect">
            <a:avLst/>
          </a:prstGeom>
          <a:noFill/>
        </p:spPr>
        <p:txBody>
          <a:bodyPr wrap="square">
            <a:spAutoFit/>
          </a:bodyPr>
          <a:lstStyle/>
          <a:p>
            <a:pPr>
              <a:defRPr sz="1000" b="1">
                <a:solidFill>
                  <a:srgbClr val="DC2626"/>
                </a:solidFill>
              </a:defRPr>
            </a:pPr>
            <a:r>
              <a:t>CRITICAL BOTTLENECK</a:t>
            </a:r>
          </a:p>
          <a:p>
            <a:pPr>
              <a:defRPr sz="1600" b="1">
                <a:solidFill>
                  <a:srgbClr val="0F172A"/>
                </a:solidFill>
              </a:defRPr>
            </a:pPr>
            <a:r>
              <a:t>Why Traditional ML Models Fail</a:t>
            </a:r>
          </a:p>
          <a:p>
            <a:pPr>
              <a:defRPr sz="1100">
                <a:solidFill>
                  <a:srgbClr val="475569"/>
                </a:solidFill>
              </a:defRPr>
            </a:pPr>
            <a:r>
              <a:t>Existing fake news detectors rely entirely on static text classification models (e.g. naive bayes, LSTM, SVM).</a:t>
            </a:r>
            <a:br/>
            <a:br/>
            <a:r>
              <a:t>The Fundamental Flaw:</a:t>
            </a:r>
            <a:br/>
            <a:r>
              <a:t>Static ML only learns linguistic style and word patterns. It has NO concept of real-world truth or recent real-time facts. If a fake claim is written in authoritative, professional language, standard ML will incorrectly classify it as REAL.</a:t>
            </a:r>
          </a:p>
        </p:txBody>
      </p:sp>
      <p:sp>
        <p:nvSpPr>
          <p:cNvPr id="10" name="Rounded Rectangle 9"/>
          <p:cNvSpPr/>
          <p:nvPr/>
        </p:nvSpPr>
        <p:spPr>
          <a:xfrm>
            <a:off x="7955280" y="1645920"/>
            <a:ext cx="347472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55280" y="1645920"/>
            <a:ext cx="3474720" cy="914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1874519"/>
            <a:ext cx="3017520" cy="4114800"/>
          </a:xfrm>
          <a:prstGeom prst="rect">
            <a:avLst/>
          </a:prstGeom>
          <a:noFill/>
        </p:spPr>
        <p:txBody>
          <a:bodyPr wrap="square">
            <a:spAutoFit/>
          </a:bodyPr>
          <a:lstStyle/>
          <a:p>
            <a:pPr>
              <a:defRPr sz="1000" b="1">
                <a:solidFill>
                  <a:srgbClr val="16A34A"/>
                </a:solidFill>
              </a:defRPr>
            </a:pPr>
            <a:r>
              <a:t>PROJECT MOTIVATION</a:t>
            </a:r>
          </a:p>
          <a:p>
            <a:pPr>
              <a:defRPr sz="1600" b="1">
                <a:solidFill>
                  <a:srgbClr val="0F172A"/>
                </a:solidFill>
              </a:defRPr>
            </a:pPr>
            <a:r>
              <a:t>The Need for a Hybrid Dual-Engine</a:t>
            </a:r>
          </a:p>
          <a:p>
            <a:pPr>
              <a:defRPr sz="1100">
                <a:solidFill>
                  <a:srgbClr val="475569"/>
                </a:solidFill>
              </a:defRPr>
            </a:pPr>
            <a:r>
              <a:t>To reliably combat fake news, a system must combine linguistic screening with real-time fact-checking.</a:t>
            </a:r>
            <a:br/>
            <a:br/>
            <a:r>
              <a:t>Our Core Objective:</a:t>
            </a:r>
            <a:br/>
            <a:r>
              <a:t>Build an intelligent system that verifies claims against live global knowledge (Wikipedia Web API) and structured records, providing users with the verified truth and authoritative sources rather than an unexplained label.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2563EB"/>
                </a:solidFill>
                <a:latin typeface="Segoe UI"/>
              </a:defRPr>
            </a:pPr>
            <a:r>
              <a:t>FAKE NEWS DETECTION SYSTEM</a:t>
            </a:r>
          </a:p>
          <a:p>
            <a:pPr>
              <a:defRPr sz="2600" b="1">
                <a:solidFill>
                  <a:srgbClr val="0F172A"/>
                </a:solidFill>
                <a:latin typeface="Segoe UI"/>
              </a:defRPr>
            </a:pPr>
            <a:r>
              <a:t>Problem Definition &amp; Limitations of Existing Systems</a:t>
            </a:r>
          </a:p>
        </p:txBody>
      </p:sp>
      <p:sp>
        <p:nvSpPr>
          <p:cNvPr id="3" name="TextBox 2"/>
          <p:cNvSpPr txBox="1"/>
          <p:nvPr/>
        </p:nvSpPr>
        <p:spPr>
          <a:xfrm>
            <a:off x="731520" y="6400800"/>
            <a:ext cx="10728655" cy="365760"/>
          </a:xfrm>
          <a:prstGeom prst="rect">
            <a:avLst/>
          </a:prstGeom>
          <a:noFill/>
        </p:spPr>
        <p:txBody>
          <a:bodyPr wrap="none" lIns="0" tIns="0" rIns="0" bIns="0">
            <a:spAutoFit/>
          </a:bodyPr>
          <a:lstStyle/>
          <a:p>
            <a:pPr>
              <a:defRPr sz="1000">
                <a:solidFill>
                  <a:srgbClr val="94A3B8"/>
                </a:solidFill>
                <a:latin typeface="Segoe UI"/>
              </a:defRPr>
            </a:pPr>
            <a:r>
              <a:t>Autonomous Fake News Detection System | Hybrid ML &amp; Real-Time Live Web Verification               Slide 4</a:t>
            </a:r>
          </a:p>
        </p:txBody>
      </p:sp>
      <p:sp>
        <p:nvSpPr>
          <p:cNvPr id="4" name="Rounded Rectangle 3"/>
          <p:cNvSpPr/>
          <p:nvPr/>
        </p:nvSpPr>
        <p:spPr>
          <a:xfrm>
            <a:off x="731520" y="1645920"/>
            <a:ext cx="5212080" cy="4480560"/>
          </a:xfrm>
          <a:prstGeom prst="roundRect">
            <a:avLst/>
          </a:prstGeom>
          <a:solidFill>
            <a:srgbClr val="FEF2F2"/>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663440" cy="4114800"/>
          </a:xfrm>
          <a:prstGeom prst="rect">
            <a:avLst/>
          </a:prstGeom>
          <a:noFill/>
        </p:spPr>
        <p:txBody>
          <a:bodyPr wrap="square">
            <a:spAutoFit/>
          </a:bodyPr>
          <a:lstStyle/>
          <a:p>
            <a:pPr>
              <a:defRPr sz="1100" b="1">
                <a:solidFill>
                  <a:srgbClr val="DC2626"/>
                </a:solidFill>
              </a:defRPr>
            </a:pPr>
            <a:r>
              <a:t>LIMITATIONS OF EXISTING DETECTORS</a:t>
            </a:r>
          </a:p>
          <a:p>
            <a:pPr>
              <a:defRPr sz="1400" b="1">
                <a:solidFill>
                  <a:srgbClr val="0F172A"/>
                </a:solidFill>
              </a:defRPr>
            </a:pPr>
            <a:r>
              <a:t>1. Static Knowledge Cutoff Date</a:t>
            </a:r>
          </a:p>
          <a:p>
            <a:pPr>
              <a:defRPr sz="1100">
                <a:solidFill>
                  <a:srgbClr val="475569"/>
                </a:solidFill>
              </a:defRPr>
            </a:pPr>
            <a:r>
              <a:t>Models trained on older datasets (e.g. 2018-2022) are blind to recent corporate appointments, elections, cinema releases, and world events.</a:t>
            </a:r>
          </a:p>
          <a:p>
            <a:pPr>
              <a:defRPr sz="1400" b="1">
                <a:solidFill>
                  <a:srgbClr val="0F172A"/>
                </a:solidFill>
              </a:defRPr>
            </a:pPr>
            <a:r>
              <a:t>2. Vulnerable to Entity Swapping</a:t>
            </a:r>
          </a:p>
          <a:p>
            <a:pPr>
              <a:defRPr sz="1100">
                <a:solidFill>
                  <a:srgbClr val="475569"/>
                </a:solidFill>
              </a:defRPr>
            </a:pPr>
            <a:r>
              <a:t>Claims like 'The CEO of IndiGo is Phani' mimic true news patterns. A purely statistical classifier often marks them REAL because the sentence structure is valid.</a:t>
            </a:r>
          </a:p>
          <a:p>
            <a:pPr>
              <a:defRPr sz="1400" b="1">
                <a:solidFill>
                  <a:srgbClr val="0F172A"/>
                </a:solidFill>
              </a:defRPr>
            </a:pPr>
            <a:r>
              <a:t>3. Black-Box Unexplained Output</a:t>
            </a:r>
          </a:p>
          <a:p>
            <a:pPr>
              <a:defRPr sz="1100">
                <a:solidFill>
                  <a:srgbClr val="475569"/>
                </a:solidFill>
              </a:defRPr>
            </a:pPr>
            <a:r>
              <a:t>Standard systems output only a bare probability or label without quoting what the actual real fact is or providing verifiable source links.</a:t>
            </a:r>
          </a:p>
        </p:txBody>
      </p:sp>
      <p:sp>
        <p:nvSpPr>
          <p:cNvPr id="6" name="Rounded Rectangle 5"/>
          <p:cNvSpPr/>
          <p:nvPr/>
        </p:nvSpPr>
        <p:spPr>
          <a:xfrm>
            <a:off x="6217920" y="1645920"/>
            <a:ext cx="5212080" cy="448056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663440" cy="4114800"/>
          </a:xfrm>
          <a:prstGeom prst="rect">
            <a:avLst/>
          </a:prstGeom>
          <a:noFill/>
        </p:spPr>
        <p:txBody>
          <a:bodyPr wrap="square">
            <a:spAutoFit/>
          </a:bodyPr>
          <a:lstStyle/>
          <a:p>
            <a:pPr>
              <a:defRPr sz="1100" b="1">
                <a:solidFill>
                  <a:srgbClr val="16A34A"/>
                </a:solidFill>
              </a:defRPr>
            </a:pPr>
            <a:r>
              <a:t>OUR ADDRESSING METHODOLOGY</a:t>
            </a:r>
          </a:p>
          <a:p>
            <a:pPr>
              <a:defRPr sz="1400" b="1">
                <a:solidFill>
                  <a:srgbClr val="0F172A"/>
                </a:solidFill>
              </a:defRPr>
            </a:pPr>
            <a:r>
              <a:t>1. Dynamic Live Web Integration</a:t>
            </a:r>
          </a:p>
          <a:p>
            <a:pPr>
              <a:defRPr sz="1100">
                <a:solidFill>
                  <a:srgbClr val="475569"/>
                </a:solidFill>
              </a:defRPr>
            </a:pPr>
            <a:r>
              <a:t>Connects directly to Wikipedia's Live Web API, dynamically retrieving the latest global facts across 6.8+ million active encyclopedia articles.</a:t>
            </a:r>
          </a:p>
          <a:p>
            <a:pPr>
              <a:defRPr sz="1400" b="1">
                <a:solidFill>
                  <a:srgbClr val="0F172A"/>
                </a:solidFill>
              </a:defRPr>
            </a:pPr>
            <a:r>
              <a:t>2. Strict Proper-Name Authority Matching</a:t>
            </a:r>
          </a:p>
          <a:p>
            <a:pPr>
              <a:defRPr sz="1100">
                <a:solidFill>
                  <a:srgbClr val="475569"/>
                </a:solidFill>
              </a:defRPr>
            </a:pPr>
            <a:r>
              <a:t>Employs full-token subset and word-boundary regex checking to stop false positives while gracefully handling phonetic transliterations (e.g. 'Ravi Bhasur' -&gt; 'Ravi Basrur').</a:t>
            </a:r>
          </a:p>
          <a:p>
            <a:pPr>
              <a:defRPr sz="1400" b="1">
                <a:solidFill>
                  <a:srgbClr val="0F172A"/>
                </a:solidFill>
              </a:defRPr>
            </a:pPr>
            <a:r>
              <a:t>3. Transparent Ground-Truth Citation</a:t>
            </a:r>
          </a:p>
          <a:p>
            <a:pPr>
              <a:defRPr sz="1100">
                <a:solidFill>
                  <a:srgbClr val="475569"/>
                </a:solidFill>
              </a:defRPr>
            </a:pPr>
            <a:r>
              <a:t>Whenever a fake claim is detected, the system quotes the official record (e.g., actual CEO or composer) and cites the exact source page.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2563EB"/>
                </a:solidFill>
                <a:latin typeface="Segoe UI"/>
              </a:defRPr>
            </a:pPr>
            <a:r>
              <a:t>FAKE NEWS DETECTION SYSTEM</a:t>
            </a:r>
          </a:p>
          <a:p>
            <a:pPr>
              <a:defRPr sz="2600" b="1">
                <a:solidFill>
                  <a:srgbClr val="0F172A"/>
                </a:solidFill>
                <a:latin typeface="Segoe UI"/>
              </a:defRPr>
            </a:pPr>
            <a:r>
              <a:t>Proposed Solution: Dual-Engine Hybrid AI</a:t>
            </a:r>
          </a:p>
        </p:txBody>
      </p:sp>
      <p:sp>
        <p:nvSpPr>
          <p:cNvPr id="3" name="TextBox 2"/>
          <p:cNvSpPr txBox="1"/>
          <p:nvPr/>
        </p:nvSpPr>
        <p:spPr>
          <a:xfrm>
            <a:off x="731520" y="6400800"/>
            <a:ext cx="10728655" cy="365760"/>
          </a:xfrm>
          <a:prstGeom prst="rect">
            <a:avLst/>
          </a:prstGeom>
          <a:noFill/>
        </p:spPr>
        <p:txBody>
          <a:bodyPr wrap="none" lIns="0" tIns="0" rIns="0" bIns="0">
            <a:spAutoFit/>
          </a:bodyPr>
          <a:lstStyle/>
          <a:p>
            <a:pPr>
              <a:defRPr sz="1000">
                <a:solidFill>
                  <a:srgbClr val="94A3B8"/>
                </a:solidFill>
                <a:latin typeface="Segoe UI"/>
              </a:defRPr>
            </a:pPr>
            <a:r>
              <a:t>Autonomous Fake News Detection System | Hybrid ML &amp; Real-Time Live Web Verification               Slide 5</a:t>
            </a:r>
          </a:p>
        </p:txBody>
      </p:sp>
      <p:sp>
        <p:nvSpPr>
          <p:cNvPr id="4" name="Rounded Rectangle 3"/>
          <p:cNvSpPr/>
          <p:nvPr/>
        </p:nvSpPr>
        <p:spPr>
          <a:xfrm>
            <a:off x="731520" y="164592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663440" cy="2926080"/>
          </a:xfrm>
          <a:prstGeom prst="rect">
            <a:avLst/>
          </a:prstGeom>
          <a:noFill/>
        </p:spPr>
        <p:txBody>
          <a:bodyPr wrap="square">
            <a:spAutoFit/>
          </a:bodyPr>
          <a:lstStyle/>
          <a:p>
            <a:pPr>
              <a:defRPr sz="1100" b="1">
                <a:solidFill>
                  <a:srgbClr val="2563EB"/>
                </a:solidFill>
              </a:defRPr>
            </a:pPr>
            <a:r>
              <a:t>ENGINE 1: DYNAMIC FACT VERIFICATION</a:t>
            </a:r>
          </a:p>
          <a:p>
            <a:pPr>
              <a:defRPr sz="1600" b="1">
                <a:solidFill>
                  <a:srgbClr val="0F172A"/>
                </a:solidFill>
              </a:defRPr>
            </a:pPr>
            <a:r>
              <a:t>Real-Time Knowledge &amp; Ground-Truth Verification</a:t>
            </a:r>
          </a:p>
          <a:p>
            <a:pPr>
              <a:defRPr sz="1100">
                <a:solidFill>
                  <a:srgbClr val="475569"/>
                </a:solidFill>
              </a:defRPr>
            </a:pPr>
            <a:r>
              <a:t>• Local Curated Knowledge Base: Fast Subject-Relation-Object triple verification via fact_database.csv.</a:t>
            </a:r>
            <a:br/>
            <a:r>
              <a:t>• Live Wikipedia Web API: Real-time queries for current leadership, entertainment credits, geography, science.</a:t>
            </a:r>
            <a:br/>
            <a:r>
              <a:t>• Zero Hallucination: Quotes extracted official sentences directly from Wikipedia pages.</a:t>
            </a:r>
            <a:br/>
            <a:r>
              <a:t>• Silent Typo Auto-Correction: Resolves misspellings (e.g. 'jio stduios') without intrusive UI warnings.</a:t>
            </a:r>
          </a:p>
        </p:txBody>
      </p:sp>
      <p:sp>
        <p:nvSpPr>
          <p:cNvPr id="6" name="Rounded Rectangle 5"/>
          <p:cNvSpPr/>
          <p:nvPr/>
        </p:nvSpPr>
        <p:spPr>
          <a:xfrm>
            <a:off x="6217920" y="164592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663440" cy="2926080"/>
          </a:xfrm>
          <a:prstGeom prst="rect">
            <a:avLst/>
          </a:prstGeom>
          <a:noFill/>
        </p:spPr>
        <p:txBody>
          <a:bodyPr wrap="square">
            <a:spAutoFit/>
          </a:bodyPr>
          <a:lstStyle/>
          <a:p>
            <a:pPr>
              <a:defRPr sz="1100" b="1">
                <a:solidFill>
                  <a:srgbClr val="2563EB"/>
                </a:solidFill>
              </a:defRPr>
            </a:pPr>
            <a:r>
              <a:t>ENGINE 2: MACHINE LEARNING CLASSIFIER</a:t>
            </a:r>
          </a:p>
          <a:p>
            <a:pPr>
              <a:defRPr sz="1600" b="1">
                <a:solidFill>
                  <a:srgbClr val="0F172A"/>
                </a:solidFill>
              </a:defRPr>
            </a:pPr>
            <a:r>
              <a:t>TF-IDF + Linear Support Vector Machine (SVM)</a:t>
            </a:r>
          </a:p>
          <a:p>
            <a:pPr>
              <a:defRPr sz="1100">
                <a:solidFill>
                  <a:srgbClr val="475569"/>
                </a:solidFill>
              </a:defRPr>
            </a:pPr>
            <a:r>
              <a:t>• Statistical Pattern Recognition: Screen full-length news articles, essays, and unstructured text.</a:t>
            </a:r>
            <a:br/>
            <a:r>
              <a:t>• TF-IDF Vectorizer: 24,305 extracted linguistic features capturing subtle styling cues.</a:t>
            </a:r>
            <a:br/>
            <a:r>
              <a:t>• Linear SVM Classifier: High-dimensional linear hyperplane separating genuine vs deceptive language.</a:t>
            </a:r>
            <a:br/>
            <a:r>
              <a:t>• Validated on IFND: Evaluated on 56,714 articles achieving 95.34% test accuracy.</a:t>
            </a:r>
          </a:p>
        </p:txBody>
      </p:sp>
      <p:sp>
        <p:nvSpPr>
          <p:cNvPr id="8" name="Rounded Rectangle 7"/>
          <p:cNvSpPr/>
          <p:nvPr/>
        </p:nvSpPr>
        <p:spPr>
          <a:xfrm>
            <a:off x="731520" y="5120640"/>
            <a:ext cx="10698480" cy="1097280"/>
          </a:xfrm>
          <a:prstGeom prst="roundRect">
            <a:avLst/>
          </a:prstGeom>
          <a:solidFill>
            <a:srgbClr val="F1F5F9"/>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257800"/>
            <a:ext cx="10149840" cy="822960"/>
          </a:xfrm>
          <a:prstGeom prst="rect">
            <a:avLst/>
          </a:prstGeom>
          <a:noFill/>
        </p:spPr>
        <p:txBody>
          <a:bodyPr wrap="square">
            <a:spAutoFit/>
          </a:bodyPr>
          <a:lstStyle/>
          <a:p>
            <a:pPr>
              <a:defRPr sz="1200" b="1">
                <a:solidFill>
                  <a:srgbClr val="2563EB"/>
                </a:solidFill>
              </a:defRPr>
            </a:pPr>
            <a:r>
              <a:t>HYBRID ADVANTAGE: WHY COMBINING BOTH ENGINES WINS</a:t>
            </a:r>
          </a:p>
          <a:p>
            <a:pPr>
              <a:defRPr sz="1100">
                <a:solidFill>
                  <a:srgbClr val="0F172A"/>
                </a:solidFill>
              </a:defRPr>
            </a:pPr>
            <a:r>
              <a:t>When factual claims (e.g. cinema composers, company CEOs, capital cities) enter the system, Engine 1 guarantees factual accuracy against live records. When full articles enter, Engine 2 inspects language patterns. The user always receives an explainable, grounded result.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2563EB"/>
                </a:solidFill>
                <a:latin typeface="Segoe UI"/>
              </a:defRPr>
            </a:pPr>
            <a:r>
              <a:t>FAKE NEWS DETECTION SYSTEM</a:t>
            </a:r>
          </a:p>
          <a:p>
            <a:pPr>
              <a:defRPr sz="2600" b="1">
                <a:solidFill>
                  <a:srgbClr val="0F172A"/>
                </a:solidFill>
                <a:latin typeface="Segoe UI"/>
              </a:defRPr>
            </a:pPr>
            <a:r>
              <a:t>System Workflow: From Claim to Verified Evidence</a:t>
            </a:r>
          </a:p>
        </p:txBody>
      </p:sp>
      <p:sp>
        <p:nvSpPr>
          <p:cNvPr id="3" name="TextBox 2"/>
          <p:cNvSpPr txBox="1"/>
          <p:nvPr/>
        </p:nvSpPr>
        <p:spPr>
          <a:xfrm>
            <a:off x="731520" y="6400800"/>
            <a:ext cx="10728655" cy="365760"/>
          </a:xfrm>
          <a:prstGeom prst="rect">
            <a:avLst/>
          </a:prstGeom>
          <a:noFill/>
        </p:spPr>
        <p:txBody>
          <a:bodyPr wrap="none" lIns="0" tIns="0" rIns="0" bIns="0">
            <a:spAutoFit/>
          </a:bodyPr>
          <a:lstStyle/>
          <a:p>
            <a:pPr>
              <a:defRPr sz="1000">
                <a:solidFill>
                  <a:srgbClr val="94A3B8"/>
                </a:solidFill>
                <a:latin typeface="Segoe UI"/>
              </a:defRPr>
            </a:pPr>
            <a:r>
              <a:t>Autonomous Fake News Detection System | Hybrid ML &amp; Real-Time Live Web Verification               Slide 6</a:t>
            </a:r>
          </a:p>
        </p:txBody>
      </p:sp>
      <p:sp>
        <p:nvSpPr>
          <p:cNvPr id="4" name="Rounded Rectangle 3"/>
          <p:cNvSpPr/>
          <p:nvPr/>
        </p:nvSpPr>
        <p:spPr>
          <a:xfrm>
            <a:off x="731520" y="1645920"/>
            <a:ext cx="169164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828800"/>
            <a:ext cx="1417320" cy="3657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Step 1</a:t>
            </a:r>
          </a:p>
        </p:txBody>
      </p:sp>
      <p:sp>
        <p:nvSpPr>
          <p:cNvPr id="6" name="TextBox 5"/>
          <p:cNvSpPr txBox="1"/>
          <p:nvPr/>
        </p:nvSpPr>
        <p:spPr>
          <a:xfrm>
            <a:off x="822960" y="2331720"/>
            <a:ext cx="1508760" cy="3657600"/>
          </a:xfrm>
          <a:prstGeom prst="rect">
            <a:avLst/>
          </a:prstGeom>
          <a:noFill/>
        </p:spPr>
        <p:txBody>
          <a:bodyPr wrap="square">
            <a:spAutoFit/>
          </a:bodyPr>
          <a:lstStyle/>
          <a:p>
            <a:pPr>
              <a:defRPr sz="1300" b="1">
                <a:solidFill>
                  <a:srgbClr val="0F172A"/>
                </a:solidFill>
              </a:defRPr>
            </a:pPr>
            <a:r>
              <a:t>Claim Input &amp; Validation</a:t>
            </a:r>
          </a:p>
          <a:p>
            <a:pPr>
              <a:defRPr sz="1000">
                <a:solidFill>
                  <a:srgbClr val="475569"/>
                </a:solidFill>
              </a:defRPr>
            </a:pPr>
            <a:r>
              <a:t>User enters claim in Streamlit UI; system verifies length &gt;= 3 words and filters gibberish / repeated characters.</a:t>
            </a:r>
          </a:p>
        </p:txBody>
      </p:sp>
      <p:sp>
        <p:nvSpPr>
          <p:cNvPr id="7" name="Rounded Rectangle 6"/>
          <p:cNvSpPr/>
          <p:nvPr/>
        </p:nvSpPr>
        <p:spPr>
          <a:xfrm>
            <a:off x="2514600" y="1645920"/>
            <a:ext cx="169164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51760" y="1828800"/>
            <a:ext cx="1417320" cy="3657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Step 2</a:t>
            </a:r>
          </a:p>
        </p:txBody>
      </p:sp>
      <p:sp>
        <p:nvSpPr>
          <p:cNvPr id="9" name="TextBox 8"/>
          <p:cNvSpPr txBox="1"/>
          <p:nvPr/>
        </p:nvSpPr>
        <p:spPr>
          <a:xfrm>
            <a:off x="2606040" y="2331720"/>
            <a:ext cx="1508760" cy="3657600"/>
          </a:xfrm>
          <a:prstGeom prst="rect">
            <a:avLst/>
          </a:prstGeom>
          <a:noFill/>
        </p:spPr>
        <p:txBody>
          <a:bodyPr wrap="square">
            <a:spAutoFit/>
          </a:bodyPr>
          <a:lstStyle/>
          <a:p>
            <a:pPr>
              <a:defRPr sz="1300" b="1">
                <a:solidFill>
                  <a:srgbClr val="0F172A"/>
                </a:solidFill>
              </a:defRPr>
            </a:pPr>
            <a:r>
              <a:t>Curated Fact Base</a:t>
            </a:r>
          </a:p>
          <a:p>
            <a:pPr>
              <a:defRPr sz="1000">
                <a:solidFill>
                  <a:srgbClr val="475569"/>
                </a:solidFill>
              </a:defRPr>
            </a:pPr>
            <a:r>
              <a:t>FactChecker checks local verified triples (S-R-O). If SUPPORTED or CONTRADICTED, immediate result is returned.</a:t>
            </a:r>
          </a:p>
        </p:txBody>
      </p:sp>
      <p:sp>
        <p:nvSpPr>
          <p:cNvPr id="10" name="Rounded Rectangle 9"/>
          <p:cNvSpPr/>
          <p:nvPr/>
        </p:nvSpPr>
        <p:spPr>
          <a:xfrm>
            <a:off x="4297680" y="1645920"/>
            <a:ext cx="169164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34840" y="1828800"/>
            <a:ext cx="1417320" cy="3657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Step 3</a:t>
            </a:r>
          </a:p>
        </p:txBody>
      </p:sp>
      <p:sp>
        <p:nvSpPr>
          <p:cNvPr id="12" name="TextBox 11"/>
          <p:cNvSpPr txBox="1"/>
          <p:nvPr/>
        </p:nvSpPr>
        <p:spPr>
          <a:xfrm>
            <a:off x="4389120" y="2331720"/>
            <a:ext cx="1508760" cy="3657600"/>
          </a:xfrm>
          <a:prstGeom prst="rect">
            <a:avLst/>
          </a:prstGeom>
          <a:noFill/>
        </p:spPr>
        <p:txBody>
          <a:bodyPr wrap="square">
            <a:spAutoFit/>
          </a:bodyPr>
          <a:lstStyle/>
          <a:p>
            <a:pPr>
              <a:defRPr sz="1300" b="1">
                <a:solidFill>
                  <a:srgbClr val="0F172A"/>
                </a:solidFill>
              </a:defRPr>
            </a:pPr>
            <a:r>
              <a:t>Dynamic Role / Category Router</a:t>
            </a:r>
          </a:p>
          <a:p>
            <a:pPr>
              <a:defRPr sz="1000">
                <a:solidFill>
                  <a:srgbClr val="475569"/>
                </a:solidFill>
              </a:defRPr>
            </a:pPr>
            <a:r>
              <a:t>Identifies domain intent via regex: Leadership (CEO/PM), Cinema (Director/Composer), Geography (Capitals/Continents).</a:t>
            </a:r>
          </a:p>
        </p:txBody>
      </p:sp>
      <p:sp>
        <p:nvSpPr>
          <p:cNvPr id="13" name="Rounded Rectangle 12"/>
          <p:cNvSpPr/>
          <p:nvPr/>
        </p:nvSpPr>
        <p:spPr>
          <a:xfrm>
            <a:off x="6080759" y="1645920"/>
            <a:ext cx="169164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19" y="1828800"/>
            <a:ext cx="1417320" cy="3657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Step 4</a:t>
            </a:r>
          </a:p>
        </p:txBody>
      </p:sp>
      <p:sp>
        <p:nvSpPr>
          <p:cNvPr id="15" name="TextBox 14"/>
          <p:cNvSpPr txBox="1"/>
          <p:nvPr/>
        </p:nvSpPr>
        <p:spPr>
          <a:xfrm>
            <a:off x="6172199" y="2331720"/>
            <a:ext cx="1508760" cy="3657600"/>
          </a:xfrm>
          <a:prstGeom prst="rect">
            <a:avLst/>
          </a:prstGeom>
          <a:noFill/>
        </p:spPr>
        <p:txBody>
          <a:bodyPr wrap="square">
            <a:spAutoFit/>
          </a:bodyPr>
          <a:lstStyle/>
          <a:p>
            <a:pPr>
              <a:defRPr sz="1300" b="1">
                <a:solidFill>
                  <a:srgbClr val="0F172A"/>
                </a:solidFill>
              </a:defRPr>
            </a:pPr>
            <a:r>
              <a:t>Live Wikipedia Querying</a:t>
            </a:r>
          </a:p>
          <a:p>
            <a:pPr>
              <a:defRPr sz="1000">
                <a:solidFill>
                  <a:srgbClr val="475569"/>
                </a:solidFill>
              </a:defRPr>
            </a:pPr>
            <a:r>
              <a:t>Searches Wikipedia with suggestion=True. Resolves typos silently and fetches target entity pages.</a:t>
            </a:r>
          </a:p>
        </p:txBody>
      </p:sp>
      <p:sp>
        <p:nvSpPr>
          <p:cNvPr id="16" name="Rounded Rectangle 15"/>
          <p:cNvSpPr/>
          <p:nvPr/>
        </p:nvSpPr>
        <p:spPr>
          <a:xfrm>
            <a:off x="7863840" y="1645920"/>
            <a:ext cx="169164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01000" y="1828800"/>
            <a:ext cx="1417320" cy="3657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Step 5</a:t>
            </a:r>
          </a:p>
        </p:txBody>
      </p:sp>
      <p:sp>
        <p:nvSpPr>
          <p:cNvPr id="18" name="TextBox 17"/>
          <p:cNvSpPr txBox="1"/>
          <p:nvPr/>
        </p:nvSpPr>
        <p:spPr>
          <a:xfrm>
            <a:off x="7955280" y="2331720"/>
            <a:ext cx="1508760" cy="3657600"/>
          </a:xfrm>
          <a:prstGeom prst="rect">
            <a:avLst/>
          </a:prstGeom>
          <a:noFill/>
        </p:spPr>
        <p:txBody>
          <a:bodyPr wrap="square">
            <a:spAutoFit/>
          </a:bodyPr>
          <a:lstStyle/>
          <a:p>
            <a:pPr>
              <a:defRPr sz="1300" b="1">
                <a:solidFill>
                  <a:srgbClr val="0F172A"/>
                </a:solidFill>
              </a:defRPr>
            </a:pPr>
            <a:r>
              <a:t>Strict Authority Matching</a:t>
            </a:r>
          </a:p>
          <a:p>
            <a:pPr>
              <a:defRPr sz="1000">
                <a:solidFill>
                  <a:srgbClr val="475569"/>
                </a:solidFill>
              </a:defRPr>
            </a:pPr>
            <a:r>
              <a:t>match_claimed_person inspects role sentence; checks token subsets &amp; phonetic distance (e.g. Ravi Bhasur).</a:t>
            </a:r>
          </a:p>
        </p:txBody>
      </p:sp>
      <p:sp>
        <p:nvSpPr>
          <p:cNvPr id="19" name="Rounded Rectangle 18"/>
          <p:cNvSpPr/>
          <p:nvPr/>
        </p:nvSpPr>
        <p:spPr>
          <a:xfrm>
            <a:off x="9646920" y="1645920"/>
            <a:ext cx="169164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784080" y="1828800"/>
            <a:ext cx="1417320" cy="3657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Step 6</a:t>
            </a:r>
          </a:p>
        </p:txBody>
      </p:sp>
      <p:sp>
        <p:nvSpPr>
          <p:cNvPr id="21" name="TextBox 20"/>
          <p:cNvSpPr txBox="1"/>
          <p:nvPr/>
        </p:nvSpPr>
        <p:spPr>
          <a:xfrm>
            <a:off x="9738360" y="2331720"/>
            <a:ext cx="1508760" cy="3657600"/>
          </a:xfrm>
          <a:prstGeom prst="rect">
            <a:avLst/>
          </a:prstGeom>
          <a:noFill/>
        </p:spPr>
        <p:txBody>
          <a:bodyPr wrap="square">
            <a:spAutoFit/>
          </a:bodyPr>
          <a:lstStyle/>
          <a:p>
            <a:pPr>
              <a:defRPr sz="1300" b="1">
                <a:solidFill>
                  <a:srgbClr val="0F172A"/>
                </a:solidFill>
              </a:defRPr>
            </a:pPr>
            <a:r>
              <a:t>Explainable Output</a:t>
            </a:r>
          </a:p>
          <a:p>
            <a:pPr>
              <a:defRPr sz="1000">
                <a:solidFill>
                  <a:srgbClr val="475569"/>
                </a:solidFill>
              </a:defRPr>
            </a:pPr>
            <a:r>
              <a:t>Renders green REAL card or red FAKE card with quoted ground-truth fact and official Wikipedia source.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2563EB"/>
                </a:solidFill>
                <a:latin typeface="Segoe UI"/>
              </a:defRPr>
            </a:pPr>
            <a:r>
              <a:t>FAKE NEWS DETECTION SYSTEM</a:t>
            </a:r>
          </a:p>
          <a:p>
            <a:pPr>
              <a:defRPr sz="2600" b="1">
                <a:solidFill>
                  <a:srgbClr val="0F172A"/>
                </a:solidFill>
                <a:latin typeface="Segoe UI"/>
              </a:defRPr>
            </a:pPr>
            <a:r>
              <a:t>Dataset Details &amp; Real-Time Knowledge Repository</a:t>
            </a:r>
          </a:p>
        </p:txBody>
      </p:sp>
      <p:sp>
        <p:nvSpPr>
          <p:cNvPr id="3" name="TextBox 2"/>
          <p:cNvSpPr txBox="1"/>
          <p:nvPr/>
        </p:nvSpPr>
        <p:spPr>
          <a:xfrm>
            <a:off x="731520" y="6400800"/>
            <a:ext cx="10728655" cy="365760"/>
          </a:xfrm>
          <a:prstGeom prst="rect">
            <a:avLst/>
          </a:prstGeom>
          <a:noFill/>
        </p:spPr>
        <p:txBody>
          <a:bodyPr wrap="none" lIns="0" tIns="0" rIns="0" bIns="0">
            <a:spAutoFit/>
          </a:bodyPr>
          <a:lstStyle/>
          <a:p>
            <a:pPr>
              <a:defRPr sz="1000">
                <a:solidFill>
                  <a:srgbClr val="94A3B8"/>
                </a:solidFill>
                <a:latin typeface="Segoe UI"/>
              </a:defRPr>
            </a:pPr>
            <a:r>
              <a:t>Autonomous Fake News Detection System | Hybrid ML &amp; Real-Time Live Web Verification               Slide 7</a:t>
            </a:r>
          </a:p>
        </p:txBody>
      </p:sp>
      <p:sp>
        <p:nvSpPr>
          <p:cNvPr id="4" name="Rounded Rectangle 3"/>
          <p:cNvSpPr/>
          <p:nvPr/>
        </p:nvSpPr>
        <p:spPr>
          <a:xfrm>
            <a:off x="731520" y="1645920"/>
            <a:ext cx="52120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663440" cy="4114800"/>
          </a:xfrm>
          <a:prstGeom prst="rect">
            <a:avLst/>
          </a:prstGeom>
          <a:noFill/>
        </p:spPr>
        <p:txBody>
          <a:bodyPr wrap="square">
            <a:spAutoFit/>
          </a:bodyPr>
          <a:lstStyle/>
          <a:p>
            <a:pPr>
              <a:defRPr sz="1100" b="1">
                <a:solidFill>
                  <a:srgbClr val="2563EB"/>
                </a:solidFill>
              </a:defRPr>
            </a:pPr>
            <a:r>
              <a:t>OFFLINE ML TRAINING DATASET</a:t>
            </a:r>
          </a:p>
          <a:p>
            <a:pPr>
              <a:defRPr sz="1800" b="1">
                <a:solidFill>
                  <a:srgbClr val="0F172A"/>
                </a:solidFill>
              </a:defRPr>
            </a:pPr>
            <a:r>
              <a:t>Indian Fake News Dataset (IFND)</a:t>
            </a:r>
          </a:p>
          <a:p>
            <a:pPr>
              <a:defRPr sz="1100">
                <a:solidFill>
                  <a:srgbClr val="475569"/>
                </a:solidFill>
              </a:defRPr>
            </a:pPr>
            <a:r>
              <a:t>• Total Sample Size: 56,714 labeled news articles</a:t>
            </a:r>
            <a:br/>
            <a:r>
              <a:t>• Genuine News (TRUE): 37,800 records (66.6%)</a:t>
            </a:r>
            <a:br/>
            <a:r>
              <a:t>• Fabricated News (FAKE): 18,914 records (33.4%)</a:t>
            </a:r>
            <a:br/>
            <a:r>
              <a:t>• Data Partitioning:</a:t>
            </a:r>
            <a:br/>
            <a:r>
              <a:t>   - Training Set (80%): 45,371 articles</a:t>
            </a:r>
            <a:br/>
            <a:r>
              <a:t>   - Test Set (20%): 11,343 articles (Stratified)</a:t>
            </a:r>
            <a:br/>
            <a:br/>
            <a:r>
              <a:t>Preprocessing Pipeline:</a:t>
            </a:r>
            <a:br/>
            <a:r>
              <a:t>• Removal of HTTP/HTTPS URLs &amp; web artifacts</a:t>
            </a:r>
            <a:br/>
            <a:r>
              <a:t>• Lowercase text normalization</a:t>
            </a:r>
            <a:br/>
            <a:r>
              <a:t>• Preservation of critical numerical entities &amp; dates</a:t>
            </a:r>
            <a:br/>
            <a:r>
              <a:t>• Stopword removal using Scikit-Learn English dictionary</a:t>
            </a:r>
          </a:p>
        </p:txBody>
      </p:sp>
      <p:sp>
        <p:nvSpPr>
          <p:cNvPr id="6" name="Rounded Rectangle 5"/>
          <p:cNvSpPr/>
          <p:nvPr/>
        </p:nvSpPr>
        <p:spPr>
          <a:xfrm>
            <a:off x="6217920" y="1645920"/>
            <a:ext cx="52120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663440" cy="4114800"/>
          </a:xfrm>
          <a:prstGeom prst="rect">
            <a:avLst/>
          </a:prstGeom>
          <a:noFill/>
        </p:spPr>
        <p:txBody>
          <a:bodyPr wrap="square">
            <a:spAutoFit/>
          </a:bodyPr>
          <a:lstStyle/>
          <a:p>
            <a:pPr>
              <a:defRPr sz="1100" b="1">
                <a:solidFill>
                  <a:srgbClr val="16A34A"/>
                </a:solidFill>
              </a:defRPr>
            </a:pPr>
            <a:r>
              <a:t>REAL-TIME KNOWLEDGE REPOSITORY</a:t>
            </a:r>
          </a:p>
          <a:p>
            <a:pPr>
              <a:defRPr sz="1800" b="1">
                <a:solidFill>
                  <a:srgbClr val="0F172A"/>
                </a:solidFill>
              </a:defRPr>
            </a:pPr>
            <a:r>
              <a:t>Wikipedia Web API &amp; Curated Triples</a:t>
            </a:r>
          </a:p>
          <a:p>
            <a:pPr>
              <a:defRPr sz="1100">
                <a:solidFill>
                  <a:srgbClr val="475569"/>
                </a:solidFill>
              </a:defRPr>
            </a:pPr>
            <a:r>
              <a:t>1. Wikipedia Live Web API Integration:</a:t>
            </a:r>
            <a:br/>
            <a:r>
              <a:t>• Over 6.8 million English Wikipedia articles dynamically queried in real time.</a:t>
            </a:r>
            <a:br/>
            <a:r>
              <a:t>• Direct programmatic access via custom User-Agent to retrieve live summaries, infoboxes, and role credits.</a:t>
            </a:r>
            <a:br/>
            <a:r>
              <a:t>• Search suggestions (suggestion=True) automatically resolve human typographical errors.</a:t>
            </a:r>
            <a:br/>
            <a:br/>
            <a:r>
              <a:t>2. Curated Fact Database (fact_database.csv):</a:t>
            </a:r>
            <a:br/>
            <a:r>
              <a:t>• High-priority ground-truth triples for instant local verification.</a:t>
            </a:r>
            <a:br/>
            <a:r>
              <a:t>• Subject-Relation-Object format.</a:t>
            </a:r>
            <a:br/>
            <a:r>
              <a:t>• Easily extensible via the built-in Fact Manager 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2563EB"/>
                </a:solidFill>
                <a:latin typeface="Segoe UI"/>
              </a:defRPr>
            </a:pPr>
            <a:r>
              <a:t>FAKE NEWS DETECTION SYSTEM</a:t>
            </a:r>
          </a:p>
          <a:p>
            <a:pPr>
              <a:defRPr sz="2600" b="1">
                <a:solidFill>
                  <a:srgbClr val="0F172A"/>
                </a:solidFill>
                <a:latin typeface="Segoe UI"/>
              </a:defRPr>
            </a:pPr>
            <a:r>
              <a:t>Core System Modules &amp; Implementation</a:t>
            </a:r>
          </a:p>
        </p:txBody>
      </p:sp>
      <p:sp>
        <p:nvSpPr>
          <p:cNvPr id="3" name="TextBox 2"/>
          <p:cNvSpPr txBox="1"/>
          <p:nvPr/>
        </p:nvSpPr>
        <p:spPr>
          <a:xfrm>
            <a:off x="731520" y="6400800"/>
            <a:ext cx="10728655" cy="365760"/>
          </a:xfrm>
          <a:prstGeom prst="rect">
            <a:avLst/>
          </a:prstGeom>
          <a:noFill/>
        </p:spPr>
        <p:txBody>
          <a:bodyPr wrap="none" lIns="0" tIns="0" rIns="0" bIns="0">
            <a:spAutoFit/>
          </a:bodyPr>
          <a:lstStyle/>
          <a:p>
            <a:pPr>
              <a:defRPr sz="1000">
                <a:solidFill>
                  <a:srgbClr val="94A3B8"/>
                </a:solidFill>
                <a:latin typeface="Segoe UI"/>
              </a:defRPr>
            </a:pPr>
            <a:r>
              <a:t>Autonomous Fake News Detection System | Hybrid ML &amp; Real-Time Live Web Verification               Slide 8</a:t>
            </a:r>
          </a:p>
        </p:txBody>
      </p:sp>
      <p:sp>
        <p:nvSpPr>
          <p:cNvPr id="4" name="Rounded Rectangle 3"/>
          <p:cNvSpPr/>
          <p:nvPr/>
        </p:nvSpPr>
        <p:spPr>
          <a:xfrm>
            <a:off x="731520" y="1645920"/>
            <a:ext cx="347472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3108960" cy="1828800"/>
          </a:xfrm>
          <a:prstGeom prst="rect">
            <a:avLst/>
          </a:prstGeom>
          <a:noFill/>
        </p:spPr>
        <p:txBody>
          <a:bodyPr wrap="square">
            <a:spAutoFit/>
          </a:bodyPr>
          <a:lstStyle/>
          <a:p>
            <a:pPr>
              <a:defRPr sz="1000" b="1">
                <a:solidFill>
                  <a:srgbClr val="2563EB"/>
                </a:solidFill>
              </a:defRPr>
            </a:pPr>
            <a:r>
              <a:t>MODULE 1</a:t>
            </a:r>
          </a:p>
          <a:p>
            <a:pPr>
              <a:defRPr sz="1400" b="1">
                <a:solidFill>
                  <a:srgbClr val="0F172A"/>
                </a:solidFill>
              </a:defRPr>
            </a:pPr>
            <a:r>
              <a:t>Input Preprocessing &amp; Validation</a:t>
            </a:r>
          </a:p>
          <a:p>
            <a:pPr>
              <a:defRPr sz="1050">
                <a:solidFill>
                  <a:srgbClr val="475569"/>
                </a:solidFill>
              </a:defRPr>
            </a:pPr>
            <a:r>
              <a:t>Validates text length (min 3 words), screens out gibberish or character repetitions, normalizes whitespace, and extracts numerical/named entity tokens.</a:t>
            </a:r>
          </a:p>
        </p:txBody>
      </p:sp>
      <p:sp>
        <p:nvSpPr>
          <p:cNvPr id="6" name="Rounded Rectangle 5"/>
          <p:cNvSpPr/>
          <p:nvPr/>
        </p:nvSpPr>
        <p:spPr>
          <a:xfrm>
            <a:off x="4343400" y="1645920"/>
            <a:ext cx="347472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783080"/>
            <a:ext cx="3108960" cy="1828800"/>
          </a:xfrm>
          <a:prstGeom prst="rect">
            <a:avLst/>
          </a:prstGeom>
          <a:noFill/>
        </p:spPr>
        <p:txBody>
          <a:bodyPr wrap="square">
            <a:spAutoFit/>
          </a:bodyPr>
          <a:lstStyle/>
          <a:p>
            <a:pPr>
              <a:defRPr sz="1000" b="1">
                <a:solidFill>
                  <a:srgbClr val="2563EB"/>
                </a:solidFill>
              </a:defRPr>
            </a:pPr>
            <a:r>
              <a:t>MODULE 2</a:t>
            </a:r>
          </a:p>
          <a:p>
            <a:pPr>
              <a:defRPr sz="1400" b="1">
                <a:solidFill>
                  <a:srgbClr val="0F172A"/>
                </a:solidFill>
              </a:defRPr>
            </a:pPr>
            <a:r>
              <a:t>Curated Fact Checker</a:t>
            </a:r>
          </a:p>
          <a:p>
            <a:pPr>
              <a:defRPr sz="1050">
                <a:solidFill>
                  <a:srgbClr val="475569"/>
                </a:solidFill>
              </a:defRPr>
            </a:pPr>
            <a:r>
              <a:t>Maintains local ground-truth triples in fact_database.csv. Evaluates Subject-Relation-Object overlap and detects direct contradictions instantly.</a:t>
            </a:r>
          </a:p>
        </p:txBody>
      </p:sp>
      <p:sp>
        <p:nvSpPr>
          <p:cNvPr id="8" name="Rounded Rectangle 7"/>
          <p:cNvSpPr/>
          <p:nvPr/>
        </p:nvSpPr>
        <p:spPr>
          <a:xfrm>
            <a:off x="7955280" y="1645920"/>
            <a:ext cx="347472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783080"/>
            <a:ext cx="3108960" cy="1828800"/>
          </a:xfrm>
          <a:prstGeom prst="rect">
            <a:avLst/>
          </a:prstGeom>
          <a:noFill/>
        </p:spPr>
        <p:txBody>
          <a:bodyPr wrap="square">
            <a:spAutoFit/>
          </a:bodyPr>
          <a:lstStyle/>
          <a:p>
            <a:pPr>
              <a:defRPr sz="1000" b="1">
                <a:solidFill>
                  <a:srgbClr val="2563EB"/>
                </a:solidFill>
              </a:defRPr>
            </a:pPr>
            <a:r>
              <a:t>MODULE 3</a:t>
            </a:r>
          </a:p>
          <a:p>
            <a:pPr>
              <a:defRPr sz="1400" b="1">
                <a:solidFill>
                  <a:srgbClr val="0F172A"/>
                </a:solidFill>
              </a:defRPr>
            </a:pPr>
            <a:r>
              <a:t>Autonomous Live Web Verifier</a:t>
            </a:r>
          </a:p>
          <a:p>
            <a:pPr>
              <a:defRPr sz="1050">
                <a:solidFill>
                  <a:srgbClr val="475569"/>
                </a:solidFill>
              </a:defRPr>
            </a:pPr>
            <a:r>
              <a:t>Queries Wikipedia Web API for target entities. Applies domain-specific parsers for Cinema, Leadership, Capitals, Geography, and Scientific opposites.</a:t>
            </a:r>
          </a:p>
        </p:txBody>
      </p:sp>
      <p:sp>
        <p:nvSpPr>
          <p:cNvPr id="10" name="Rounded Rectangle 9"/>
          <p:cNvSpPr/>
          <p:nvPr/>
        </p:nvSpPr>
        <p:spPr>
          <a:xfrm>
            <a:off x="731520" y="3931920"/>
            <a:ext cx="347472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69080"/>
            <a:ext cx="3108960" cy="1828800"/>
          </a:xfrm>
          <a:prstGeom prst="rect">
            <a:avLst/>
          </a:prstGeom>
          <a:noFill/>
        </p:spPr>
        <p:txBody>
          <a:bodyPr wrap="square">
            <a:spAutoFit/>
          </a:bodyPr>
          <a:lstStyle/>
          <a:p>
            <a:pPr>
              <a:defRPr sz="1000" b="1">
                <a:solidFill>
                  <a:srgbClr val="2563EB"/>
                </a:solidFill>
              </a:defRPr>
            </a:pPr>
            <a:r>
              <a:t>MODULE 4</a:t>
            </a:r>
          </a:p>
          <a:p>
            <a:pPr>
              <a:defRPr sz="1400" b="1">
                <a:solidFill>
                  <a:srgbClr val="0F172A"/>
                </a:solidFill>
              </a:defRPr>
            </a:pPr>
            <a:r>
              <a:t>Strict Entity Matcher</a:t>
            </a:r>
          </a:p>
          <a:p>
            <a:pPr>
              <a:defRPr sz="1050">
                <a:solidFill>
                  <a:srgbClr val="475569"/>
                </a:solidFill>
              </a:defRPr>
            </a:pPr>
            <a:r>
              <a:t>match_claimed_person inspects role-holding sentences. Requires token-subset alignment, word-boundary checks, and handles phonetic transliterations.</a:t>
            </a:r>
          </a:p>
        </p:txBody>
      </p:sp>
      <p:sp>
        <p:nvSpPr>
          <p:cNvPr id="12" name="Rounded Rectangle 11"/>
          <p:cNvSpPr/>
          <p:nvPr/>
        </p:nvSpPr>
        <p:spPr>
          <a:xfrm>
            <a:off x="4343400" y="3931920"/>
            <a:ext cx="347472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4069080"/>
            <a:ext cx="3108960" cy="1828800"/>
          </a:xfrm>
          <a:prstGeom prst="rect">
            <a:avLst/>
          </a:prstGeom>
          <a:noFill/>
        </p:spPr>
        <p:txBody>
          <a:bodyPr wrap="square">
            <a:spAutoFit/>
          </a:bodyPr>
          <a:lstStyle/>
          <a:p>
            <a:pPr>
              <a:defRPr sz="1000" b="1">
                <a:solidFill>
                  <a:srgbClr val="2563EB"/>
                </a:solidFill>
              </a:defRPr>
            </a:pPr>
            <a:r>
              <a:t>MODULE 5</a:t>
            </a:r>
          </a:p>
          <a:p>
            <a:pPr>
              <a:defRPr sz="1400" b="1">
                <a:solidFill>
                  <a:srgbClr val="0F172A"/>
                </a:solidFill>
              </a:defRPr>
            </a:pPr>
            <a:r>
              <a:t>Machine Learning Pipeline</a:t>
            </a:r>
          </a:p>
          <a:p>
            <a:pPr>
              <a:defRPr sz="1050">
                <a:solidFill>
                  <a:srgbClr val="475569"/>
                </a:solidFill>
              </a:defRPr>
            </a:pPr>
            <a:r>
              <a:t>TF-IDF vectorizer (24,305 features) and Linear Support Vector Classifier (LinearSVC) provide statistical styling classification for long narrative articles.</a:t>
            </a:r>
          </a:p>
        </p:txBody>
      </p:sp>
      <p:sp>
        <p:nvSpPr>
          <p:cNvPr id="14" name="Rounded Rectangle 13"/>
          <p:cNvSpPr/>
          <p:nvPr/>
        </p:nvSpPr>
        <p:spPr>
          <a:xfrm>
            <a:off x="7955280" y="3931920"/>
            <a:ext cx="347472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4069080"/>
            <a:ext cx="3108960" cy="1828800"/>
          </a:xfrm>
          <a:prstGeom prst="rect">
            <a:avLst/>
          </a:prstGeom>
          <a:noFill/>
        </p:spPr>
        <p:txBody>
          <a:bodyPr wrap="square">
            <a:spAutoFit/>
          </a:bodyPr>
          <a:lstStyle/>
          <a:p>
            <a:pPr>
              <a:defRPr sz="1000" b="1">
                <a:solidFill>
                  <a:srgbClr val="2563EB"/>
                </a:solidFill>
              </a:defRPr>
            </a:pPr>
            <a:r>
              <a:t>MODULE 6</a:t>
            </a:r>
          </a:p>
          <a:p>
            <a:pPr>
              <a:defRPr sz="1400" b="1">
                <a:solidFill>
                  <a:srgbClr val="0F172A"/>
                </a:solidFill>
              </a:defRPr>
            </a:pPr>
            <a:r>
              <a:t>Interactive Web Dashboard</a:t>
            </a:r>
          </a:p>
          <a:p>
            <a:pPr>
              <a:defRPr sz="1050">
                <a:solidFill>
                  <a:srgbClr val="475569"/>
                </a:solidFill>
              </a:defRPr>
            </a:pPr>
            <a:r>
              <a:t>Modern Streamlit web application with real-time prediction, color-coded visual cards (🟢 Real / 🔴 Fake), quoted facts, and Fact Manager administration.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2563EB"/>
                </a:solidFill>
                <a:latin typeface="Segoe UI"/>
              </a:defRPr>
            </a:pPr>
            <a:r>
              <a:t>FAKE NEWS DETECTION SYSTEM</a:t>
            </a:r>
          </a:p>
          <a:p>
            <a:pPr>
              <a:defRPr sz="2600" b="1">
                <a:solidFill>
                  <a:srgbClr val="0F172A"/>
                </a:solidFill>
                <a:latin typeface="Segoe UI"/>
              </a:defRPr>
            </a:pPr>
            <a:r>
              <a:t>Machine Learning &amp; Natural Language Processing Algorithms</a:t>
            </a:r>
          </a:p>
        </p:txBody>
      </p:sp>
      <p:sp>
        <p:nvSpPr>
          <p:cNvPr id="3" name="TextBox 2"/>
          <p:cNvSpPr txBox="1"/>
          <p:nvPr/>
        </p:nvSpPr>
        <p:spPr>
          <a:xfrm>
            <a:off x="731520" y="6400800"/>
            <a:ext cx="10728655" cy="365760"/>
          </a:xfrm>
          <a:prstGeom prst="rect">
            <a:avLst/>
          </a:prstGeom>
          <a:noFill/>
        </p:spPr>
        <p:txBody>
          <a:bodyPr wrap="none" lIns="0" tIns="0" rIns="0" bIns="0">
            <a:spAutoFit/>
          </a:bodyPr>
          <a:lstStyle/>
          <a:p>
            <a:pPr>
              <a:defRPr sz="1000">
                <a:solidFill>
                  <a:srgbClr val="94A3B8"/>
                </a:solidFill>
                <a:latin typeface="Segoe UI"/>
              </a:defRPr>
            </a:pPr>
            <a:r>
              <a:t>Autonomous Fake News Detection System | Hybrid ML &amp; Real-Time Live Web Verification               Slide 9</a:t>
            </a:r>
          </a:p>
        </p:txBody>
      </p:sp>
      <p:sp>
        <p:nvSpPr>
          <p:cNvPr id="4" name="Rounded Rectangle 3"/>
          <p:cNvSpPr/>
          <p:nvPr/>
        </p:nvSpPr>
        <p:spPr>
          <a:xfrm>
            <a:off x="731520" y="1645920"/>
            <a:ext cx="52120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663440" cy="4114800"/>
          </a:xfrm>
          <a:prstGeom prst="rect">
            <a:avLst/>
          </a:prstGeom>
          <a:noFill/>
        </p:spPr>
        <p:txBody>
          <a:bodyPr wrap="square">
            <a:spAutoFit/>
          </a:bodyPr>
          <a:lstStyle/>
          <a:p>
            <a:pPr>
              <a:defRPr sz="1100" b="1">
                <a:solidFill>
                  <a:srgbClr val="2563EB"/>
                </a:solidFill>
              </a:defRPr>
            </a:pPr>
            <a:r>
              <a:t>FEATURE EXTRACTION</a:t>
            </a:r>
          </a:p>
          <a:p>
            <a:pPr>
              <a:defRPr sz="1800" b="1">
                <a:solidFill>
                  <a:srgbClr val="0F172A"/>
                </a:solidFill>
              </a:defRPr>
            </a:pPr>
            <a:r>
              <a:t>TF-IDF Vectorization</a:t>
            </a:r>
          </a:p>
          <a:p>
            <a:pPr>
              <a:defRPr sz="1100">
                <a:solidFill>
                  <a:srgbClr val="475569"/>
                </a:solidFill>
              </a:defRPr>
            </a:pPr>
            <a:r>
              <a:t>Term Frequency - Inverse Document Frequency evaluates the statistical significance of words across the dataset:</a:t>
            </a:r>
            <a:br/>
            <a:br/>
            <a:r>
              <a:t>TF-IDF(t, d, D) = TF(t, d) × log(|D| / |{d ∈ D : t ∈ d}|)</a:t>
            </a:r>
            <a:br/>
            <a:br/>
            <a:r>
              <a:t>Project Implementation Details:</a:t>
            </a:r>
            <a:br/>
            <a:r>
              <a:t>• 24,305 unique unigrams &amp; bigrams extracted.</a:t>
            </a:r>
            <a:br/>
            <a:r>
              <a:t>• Document frequency threshold: max_df = 0.7 (filters corpus-wide noise words).</a:t>
            </a:r>
            <a:br/>
            <a:r>
              <a:t>• Sublinear term frequency scaling applied to normalize varying document lengths.</a:t>
            </a:r>
            <a:br/>
            <a:r>
              <a:t>• Saved artifact: models/tfidf_vectorizer.pkl.</a:t>
            </a:r>
          </a:p>
        </p:txBody>
      </p:sp>
      <p:sp>
        <p:nvSpPr>
          <p:cNvPr id="6" name="Rounded Rectangle 5"/>
          <p:cNvSpPr/>
          <p:nvPr/>
        </p:nvSpPr>
        <p:spPr>
          <a:xfrm>
            <a:off x="6217920" y="1645920"/>
            <a:ext cx="52120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663440" cy="4114800"/>
          </a:xfrm>
          <a:prstGeom prst="rect">
            <a:avLst/>
          </a:prstGeom>
          <a:noFill/>
        </p:spPr>
        <p:txBody>
          <a:bodyPr wrap="square">
            <a:spAutoFit/>
          </a:bodyPr>
          <a:lstStyle/>
          <a:p>
            <a:pPr>
              <a:defRPr sz="1100" b="1">
                <a:solidFill>
                  <a:srgbClr val="2563EB"/>
                </a:solidFill>
              </a:defRPr>
            </a:pPr>
            <a:r>
              <a:t>SUPERVISED CLASSIFICATION</a:t>
            </a:r>
          </a:p>
          <a:p>
            <a:pPr>
              <a:defRPr sz="1800" b="1">
                <a:solidFill>
                  <a:srgbClr val="0F172A"/>
                </a:solidFill>
              </a:defRPr>
            </a:pPr>
            <a:r>
              <a:t>Linear Support Vector Machine (LinearSVC)</a:t>
            </a:r>
          </a:p>
          <a:p>
            <a:pPr>
              <a:defRPr sz="1100">
                <a:solidFill>
                  <a:srgbClr val="475569"/>
                </a:solidFill>
              </a:defRPr>
            </a:pPr>
            <a:r>
              <a:t>SVM constructs an optimal maximum-margin separating hyperplane in high-dimensional space:</a:t>
            </a:r>
            <a:br/>
            <a:br/>
            <a:r>
              <a:t>min_{w,b} (1/2)||w||² + C ∑ max(0, 1 - y_i(w^T x_i + b))</a:t>
            </a:r>
            <a:br/>
            <a:br/>
            <a:r>
              <a:t>Why Linear SVM was Selected as the Best Model:</a:t>
            </a:r>
            <a:br/>
            <a:r>
              <a:t>• Superior text classification performance: 95.34% accuracy on IFND test set.</a:t>
            </a:r>
            <a:br/>
            <a:r>
              <a:t>• High resilience against overfitting in sparse, 24,000+ dimensional feature spaces.</a:t>
            </a:r>
            <a:br/>
            <a:r>
              <a:t>• Outperformed Multinomial Naive Bayes and Logistic Regression in precision (95.02%) and recall (98.15%).</a:t>
            </a:r>
            <a:br/>
            <a:r>
              <a:t>• Saved artifact: models/fake_news_model.pkl.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2563EB"/>
                </a:solidFill>
                <a:latin typeface="Segoe UI"/>
              </a:defRPr>
            </a:pPr>
            <a:r>
              <a:t>FAKE NEWS DETECTION SYSTEM</a:t>
            </a:r>
          </a:p>
          <a:p>
            <a:pPr>
              <a:defRPr sz="2600" b="1">
                <a:solidFill>
                  <a:srgbClr val="0F172A"/>
                </a:solidFill>
                <a:latin typeface="Segoe UI"/>
              </a:defRPr>
            </a:pPr>
            <a:r>
              <a:t>System Architecture: Hybrid Layered Design</a:t>
            </a:r>
          </a:p>
        </p:txBody>
      </p:sp>
      <p:sp>
        <p:nvSpPr>
          <p:cNvPr id="3" name="TextBox 2"/>
          <p:cNvSpPr txBox="1"/>
          <p:nvPr/>
        </p:nvSpPr>
        <p:spPr>
          <a:xfrm>
            <a:off x="731520" y="6400800"/>
            <a:ext cx="10728655" cy="365760"/>
          </a:xfrm>
          <a:prstGeom prst="rect">
            <a:avLst/>
          </a:prstGeom>
          <a:noFill/>
        </p:spPr>
        <p:txBody>
          <a:bodyPr wrap="none" lIns="0" tIns="0" rIns="0" bIns="0">
            <a:spAutoFit/>
          </a:bodyPr>
          <a:lstStyle/>
          <a:p>
            <a:pPr>
              <a:defRPr sz="1000">
                <a:solidFill>
                  <a:srgbClr val="94A3B8"/>
                </a:solidFill>
                <a:latin typeface="Segoe UI"/>
              </a:defRPr>
            </a:pPr>
            <a:r>
              <a:t>Autonomous Fake News Detection System | Hybrid ML &amp; Real-Time Live Web Verification               Slide 10</a:t>
            </a:r>
          </a:p>
        </p:txBody>
      </p:sp>
      <p:sp>
        <p:nvSpPr>
          <p:cNvPr id="4" name="Rounded Rectangle 3"/>
          <p:cNvSpPr/>
          <p:nvPr/>
        </p:nvSpPr>
        <p:spPr>
          <a:xfrm>
            <a:off x="731520" y="1645920"/>
            <a:ext cx="10728655" cy="777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09728"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19072"/>
            <a:ext cx="10241280" cy="640080"/>
          </a:xfrm>
          <a:prstGeom prst="rect">
            <a:avLst/>
          </a:prstGeom>
          <a:noFill/>
        </p:spPr>
        <p:txBody>
          <a:bodyPr wrap="square">
            <a:spAutoFit/>
          </a:bodyPr>
          <a:lstStyle/>
          <a:p>
            <a:pPr>
              <a:defRPr sz="1200" b="1">
                <a:solidFill>
                  <a:srgbClr val="2563EB"/>
                </a:solidFill>
              </a:defRPr>
            </a:pPr>
            <a:r>
              <a:t>LAYER 1: USER PRESENTATION LAYER  —  Streamlit Interactive Web Interface</a:t>
            </a:r>
          </a:p>
          <a:p>
            <a:pPr>
              <a:defRPr sz="1000">
                <a:solidFill>
                  <a:srgbClr val="475569"/>
                </a:solidFill>
              </a:defRPr>
            </a:pPr>
            <a:r>
              <a:t>Input Claim Area | Live Real/Fake Cards | Real Information Display | Source Citations | Fact Manager Administration</a:t>
            </a:r>
          </a:p>
        </p:txBody>
      </p:sp>
      <p:sp>
        <p:nvSpPr>
          <p:cNvPr id="7" name="Rounded Rectangle 6"/>
          <p:cNvSpPr/>
          <p:nvPr/>
        </p:nvSpPr>
        <p:spPr>
          <a:xfrm>
            <a:off x="731520" y="2542032"/>
            <a:ext cx="10728655" cy="777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42032"/>
            <a:ext cx="109728" cy="7772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15184"/>
            <a:ext cx="10241280" cy="640080"/>
          </a:xfrm>
          <a:prstGeom prst="rect">
            <a:avLst/>
          </a:prstGeom>
          <a:noFill/>
        </p:spPr>
        <p:txBody>
          <a:bodyPr wrap="square">
            <a:spAutoFit/>
          </a:bodyPr>
          <a:lstStyle/>
          <a:p>
            <a:pPr>
              <a:defRPr sz="1200" b="1">
                <a:solidFill>
                  <a:srgbClr val="1E3A8A"/>
                </a:solidFill>
              </a:defRPr>
            </a:pPr>
            <a:r>
              <a:t>LAYER 2: VALIDATION &amp; SANITIZATION  —  Input Validator &amp; Typo Resolver</a:t>
            </a:r>
          </a:p>
          <a:p>
            <a:pPr>
              <a:defRPr sz="1000">
                <a:solidFill>
                  <a:srgbClr val="475569"/>
                </a:solidFill>
              </a:defRPr>
            </a:pPr>
            <a:r>
              <a:t>Gibberish Detector (regex) | Minimum Word Length Filter | Wikipedia Search Suggestion Engine (Silent Typo Corrector)</a:t>
            </a:r>
          </a:p>
        </p:txBody>
      </p:sp>
      <p:sp>
        <p:nvSpPr>
          <p:cNvPr id="10" name="Rounded Rectangle 9"/>
          <p:cNvSpPr/>
          <p:nvPr/>
        </p:nvSpPr>
        <p:spPr>
          <a:xfrm>
            <a:off x="731520" y="3438144"/>
            <a:ext cx="10728655" cy="777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438144"/>
            <a:ext cx="109728" cy="7772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11296"/>
            <a:ext cx="10241280" cy="640080"/>
          </a:xfrm>
          <a:prstGeom prst="rect">
            <a:avLst/>
          </a:prstGeom>
          <a:noFill/>
        </p:spPr>
        <p:txBody>
          <a:bodyPr wrap="square">
            <a:spAutoFit/>
          </a:bodyPr>
          <a:lstStyle/>
          <a:p>
            <a:pPr>
              <a:defRPr sz="1200" b="1">
                <a:solidFill>
                  <a:srgbClr val="4F46E5"/>
                </a:solidFill>
              </a:defRPr>
            </a:pPr>
            <a:r>
              <a:t>LAYER 3: VERIFICATION ROUTING ENGINE  —  Intent Classifier &amp; Category Matcher</a:t>
            </a:r>
          </a:p>
          <a:p>
            <a:pPr>
              <a:defRPr sz="1000">
                <a:solidFill>
                  <a:srgbClr val="475569"/>
                </a:solidFill>
              </a:defRPr>
            </a:pPr>
            <a:r>
              <a:t>Routes to: [1] Curated Triples (S-R-O) -&gt; [2] Domain Role Verifiers (Cinema/Gov/Tech) -&gt; [3] Opposites &amp; Science -&gt; [4] ML Fallback</a:t>
            </a:r>
          </a:p>
        </p:txBody>
      </p:sp>
      <p:sp>
        <p:nvSpPr>
          <p:cNvPr id="13" name="Rounded Rectangle 12"/>
          <p:cNvSpPr/>
          <p:nvPr/>
        </p:nvSpPr>
        <p:spPr>
          <a:xfrm>
            <a:off x="731520" y="4334256"/>
            <a:ext cx="10728655" cy="777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334256"/>
            <a:ext cx="109728" cy="7772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07408"/>
            <a:ext cx="10241280" cy="640080"/>
          </a:xfrm>
          <a:prstGeom prst="rect">
            <a:avLst/>
          </a:prstGeom>
          <a:noFill/>
        </p:spPr>
        <p:txBody>
          <a:bodyPr wrap="square">
            <a:spAutoFit/>
          </a:bodyPr>
          <a:lstStyle/>
          <a:p>
            <a:pPr>
              <a:defRPr sz="1200" b="1">
                <a:solidFill>
                  <a:srgbClr val="16A34A"/>
                </a:solidFill>
              </a:defRPr>
            </a:pPr>
            <a:r>
              <a:t>LAYER 4: REAL-TIME FACT RESOLUTION  —  Dynamic Web &amp; Entity Validator</a:t>
            </a:r>
          </a:p>
          <a:p>
            <a:pPr>
              <a:defRPr sz="1000">
                <a:solidFill>
                  <a:srgbClr val="475569"/>
                </a:solidFill>
              </a:defRPr>
            </a:pPr>
            <a:r>
              <a:t>Wikipedia Live Web API | Strict Word-Boundary Token Matcher (match_claimed_person) | Transliteration Distance Matcher</a:t>
            </a:r>
          </a:p>
        </p:txBody>
      </p:sp>
      <p:sp>
        <p:nvSpPr>
          <p:cNvPr id="16" name="Rounded Rectangle 15"/>
          <p:cNvSpPr/>
          <p:nvPr/>
        </p:nvSpPr>
        <p:spPr>
          <a:xfrm>
            <a:off x="731520" y="5230368"/>
            <a:ext cx="10728655" cy="777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230368"/>
            <a:ext cx="109728" cy="77724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303520"/>
            <a:ext cx="10241280" cy="640080"/>
          </a:xfrm>
          <a:prstGeom prst="rect">
            <a:avLst/>
          </a:prstGeom>
          <a:noFill/>
        </p:spPr>
        <p:txBody>
          <a:bodyPr wrap="square">
            <a:spAutoFit/>
          </a:bodyPr>
          <a:lstStyle/>
          <a:p>
            <a:pPr>
              <a:defRPr sz="1200" b="1">
                <a:solidFill>
                  <a:srgbClr val="0E7490"/>
                </a:solidFill>
              </a:defRPr>
            </a:pPr>
            <a:r>
              <a:t>LAYER 5: STATISTICAL PATTERN FALLBACK  —  Machine Learning Pipeline</a:t>
            </a:r>
          </a:p>
          <a:p>
            <a:pPr>
              <a:defRPr sz="1000">
                <a:solidFill>
                  <a:srgbClr val="475569"/>
                </a:solidFill>
              </a:defRPr>
            </a:pPr>
            <a:r>
              <a:t>TF-IDF Vectorizer (24,305 vocabulary) | Linear Support Vector Classifier (LinearSVC) trained on 56,714 IFND records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2563EB"/>
                </a:solidFill>
                <a:latin typeface="Segoe UI"/>
              </a:defRPr>
            </a:pPr>
            <a:r>
              <a:t>FAKE NEWS DETECTION SYSTEM</a:t>
            </a:r>
          </a:p>
          <a:p>
            <a:pPr>
              <a:defRPr sz="2600" b="1">
                <a:solidFill>
                  <a:srgbClr val="0F172A"/>
                </a:solidFill>
                <a:latin typeface="Segoe UI"/>
              </a:defRPr>
            </a:pPr>
            <a:r>
              <a:t>User Interface &amp; Explainable Output Design</a:t>
            </a:r>
          </a:p>
        </p:txBody>
      </p:sp>
      <p:sp>
        <p:nvSpPr>
          <p:cNvPr id="3" name="TextBox 2"/>
          <p:cNvSpPr txBox="1"/>
          <p:nvPr/>
        </p:nvSpPr>
        <p:spPr>
          <a:xfrm>
            <a:off x="731520" y="6400800"/>
            <a:ext cx="10728655" cy="365760"/>
          </a:xfrm>
          <a:prstGeom prst="rect">
            <a:avLst/>
          </a:prstGeom>
          <a:noFill/>
        </p:spPr>
        <p:txBody>
          <a:bodyPr wrap="none" lIns="0" tIns="0" rIns="0" bIns="0">
            <a:spAutoFit/>
          </a:bodyPr>
          <a:lstStyle/>
          <a:p>
            <a:pPr>
              <a:defRPr sz="1000">
                <a:solidFill>
                  <a:srgbClr val="94A3B8"/>
                </a:solidFill>
                <a:latin typeface="Segoe UI"/>
              </a:defRPr>
            </a:pPr>
            <a:r>
              <a:t>Autonomous Fake News Detection System | Hybrid ML &amp; Real-Time Live Web Verification               Slide 11</a:t>
            </a:r>
          </a:p>
        </p:txBody>
      </p:sp>
      <p:sp>
        <p:nvSpPr>
          <p:cNvPr id="4" name="Rounded Rectangle 3"/>
          <p:cNvSpPr/>
          <p:nvPr/>
        </p:nvSpPr>
        <p:spPr>
          <a:xfrm>
            <a:off x="731520" y="1645920"/>
            <a:ext cx="5212080" cy="4480560"/>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663440" cy="4114800"/>
          </a:xfrm>
          <a:prstGeom prst="rect">
            <a:avLst/>
          </a:prstGeom>
          <a:noFill/>
        </p:spPr>
        <p:txBody>
          <a:bodyPr wrap="square">
            <a:spAutoFit/>
          </a:bodyPr>
          <a:lstStyle/>
          <a:p>
            <a:pPr>
              <a:defRPr sz="1100" b="1">
                <a:solidFill>
                  <a:srgbClr val="16A34A"/>
                </a:solidFill>
              </a:defRPr>
            </a:pPr>
            <a:r>
              <a:t>AUTHENTICATED RESULT DISPLAY</a:t>
            </a:r>
          </a:p>
          <a:p>
            <a:pPr>
              <a:defRPr sz="2200" b="1">
                <a:solidFill>
                  <a:srgbClr val="16A34A"/>
                </a:solidFill>
              </a:defRPr>
            </a:pPr>
            <a:r>
              <a:t>🟢 News is Real</a:t>
            </a:r>
          </a:p>
          <a:p>
            <a:pPr>
              <a:defRPr sz="1100">
                <a:solidFill>
                  <a:srgbClr val="0F172A"/>
                </a:solidFill>
              </a:defRPr>
            </a:pPr>
            <a:r>
              <a:t>Input Claim: 'the music composer of kgf chapter one is ravi basrur'</a:t>
            </a:r>
            <a:br/>
            <a:br/>
            <a:r>
              <a:t>Real Information:</a:t>
            </a:r>
            <a:br/>
            <a:r>
              <a:t>Live Wikipedia records confirm that 'Ravi Basrur' is associated as the music composer of KGF: Chapter 1 (soundtrack): Ravi Basrur composed the songs and the background score.</a:t>
            </a:r>
            <a:br/>
            <a:br/>
            <a:r>
              <a:t>Source:</a:t>
            </a:r>
            <a:br/>
            <a:r>
              <a:t>Wikipedia Live Web API (KGF: Chapter 1 (soundtrack))</a:t>
            </a:r>
            <a:br/>
            <a:br/>
            <a:r>
              <a:t>Key Features:</a:t>
            </a:r>
            <a:br/>
            <a:r>
              <a:t>• Instant green verification banner (#d4edda).</a:t>
            </a:r>
            <a:br/>
            <a:r>
              <a:t>• Transparent quotation of official movie credits.</a:t>
            </a:r>
            <a:br/>
            <a:r>
              <a:t>• Clickable authoritative source attribution.</a:t>
            </a:r>
          </a:p>
        </p:txBody>
      </p:sp>
      <p:sp>
        <p:nvSpPr>
          <p:cNvPr id="6" name="Rounded Rectangle 5"/>
          <p:cNvSpPr/>
          <p:nvPr/>
        </p:nvSpPr>
        <p:spPr>
          <a:xfrm>
            <a:off x="6217920" y="1645920"/>
            <a:ext cx="5212080" cy="448056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663440" cy="4114800"/>
          </a:xfrm>
          <a:prstGeom prst="rect">
            <a:avLst/>
          </a:prstGeom>
          <a:noFill/>
        </p:spPr>
        <p:txBody>
          <a:bodyPr wrap="square">
            <a:spAutoFit/>
          </a:bodyPr>
          <a:lstStyle/>
          <a:p>
            <a:pPr>
              <a:defRPr sz="1100" b="1">
                <a:solidFill>
                  <a:srgbClr val="DC2626"/>
                </a:solidFill>
              </a:defRPr>
            </a:pPr>
            <a:r>
              <a:t>REFUTED RESULT DISPLAY</a:t>
            </a:r>
          </a:p>
          <a:p>
            <a:pPr>
              <a:defRPr sz="2200" b="1">
                <a:solidFill>
                  <a:srgbClr val="DC2626"/>
                </a:solidFill>
              </a:defRPr>
            </a:pPr>
            <a:r>
              <a:t>🔴 News is Fake</a:t>
            </a:r>
          </a:p>
          <a:p>
            <a:pPr>
              <a:defRPr sz="1100">
                <a:solidFill>
                  <a:srgbClr val="0F172A"/>
                </a:solidFill>
              </a:defRPr>
            </a:pPr>
            <a:r>
              <a:t>Input Claim: 'the ceo of indigo is phani'</a:t>
            </a:r>
            <a:br/>
            <a:br/>
            <a:r>
              <a:t>Real Information:</a:t>
            </a:r>
            <a:br/>
            <a:r>
              <a:t>Live Wikipedia records state that: "In the aftermath of the operational disruptions, CEO Pieter Elbers resigned on 10 March 2026, with managing director Rahul Bhatia assuming management of the airline as the interim CEO." The claim asserting that 'Phani' is the ceo is incorrect.</a:t>
            </a:r>
            <a:br/>
            <a:br/>
            <a:r>
              <a:t>Source:</a:t>
            </a:r>
            <a:br/>
            <a:r>
              <a:t>Wikipedia Live Web API (IndiGo)</a:t>
            </a:r>
            <a:br/>
            <a:br/>
            <a:r>
              <a:t>Key Features:</a:t>
            </a:r>
            <a:br/>
            <a:r>
              <a:t>• Red contradiction alert (#f8d7da).</a:t>
            </a:r>
            <a:br/>
            <a:r>
              <a:t>• Cites the actual historical and current leadership.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2563EB"/>
                </a:solidFill>
                <a:latin typeface="Segoe UI"/>
              </a:defRPr>
            </a:pPr>
            <a:r>
              <a:t>FAKE NEWS DETECTION SYSTEM</a:t>
            </a:r>
          </a:p>
          <a:p>
            <a:pPr>
              <a:defRPr sz="2600" b="1">
                <a:solidFill>
                  <a:srgbClr val="0F172A"/>
                </a:solidFill>
                <a:latin typeface="Segoe UI"/>
              </a:defRPr>
            </a:pPr>
            <a:r>
              <a:t>Model Evaluation &amp; Empirical Results</a:t>
            </a:r>
          </a:p>
        </p:txBody>
      </p:sp>
      <p:sp>
        <p:nvSpPr>
          <p:cNvPr id="3" name="TextBox 2"/>
          <p:cNvSpPr txBox="1"/>
          <p:nvPr/>
        </p:nvSpPr>
        <p:spPr>
          <a:xfrm>
            <a:off x="731520" y="6400800"/>
            <a:ext cx="10728655" cy="365760"/>
          </a:xfrm>
          <a:prstGeom prst="rect">
            <a:avLst/>
          </a:prstGeom>
          <a:noFill/>
        </p:spPr>
        <p:txBody>
          <a:bodyPr wrap="none" lIns="0" tIns="0" rIns="0" bIns="0">
            <a:spAutoFit/>
          </a:bodyPr>
          <a:lstStyle/>
          <a:p>
            <a:pPr>
              <a:defRPr sz="1000">
                <a:solidFill>
                  <a:srgbClr val="94A3B8"/>
                </a:solidFill>
                <a:latin typeface="Segoe UI"/>
              </a:defRPr>
            </a:pPr>
            <a:r>
              <a:t>Autonomous Fake News Detection System | Hybrid ML &amp; Real-Time Live Web Verification               Slide 12</a:t>
            </a:r>
          </a:p>
        </p:txBody>
      </p:sp>
      <p:sp>
        <p:nvSpPr>
          <p:cNvPr id="4" name="Rounded Rectangle 3"/>
          <p:cNvSpPr/>
          <p:nvPr/>
        </p:nvSpPr>
        <p:spPr>
          <a:xfrm>
            <a:off x="731520" y="1645920"/>
            <a:ext cx="2606040" cy="14630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260604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2331720" cy="1188720"/>
          </a:xfrm>
          <a:prstGeom prst="rect">
            <a:avLst/>
          </a:prstGeom>
          <a:noFill/>
        </p:spPr>
        <p:txBody>
          <a:bodyPr wrap="square">
            <a:spAutoFit/>
          </a:bodyPr>
          <a:lstStyle/>
          <a:p>
            <a:pPr>
              <a:defRPr sz="2800" b="1">
                <a:solidFill>
                  <a:srgbClr val="2563EB"/>
                </a:solidFill>
              </a:defRPr>
            </a:pPr>
            <a:r>
              <a:t>95.34%</a:t>
            </a:r>
          </a:p>
          <a:p>
            <a:pPr>
              <a:defRPr sz="1200" b="1">
                <a:solidFill>
                  <a:srgbClr val="0F172A"/>
                </a:solidFill>
              </a:defRPr>
            </a:pPr>
            <a:r>
              <a:t>Testing Accuracy</a:t>
            </a:r>
          </a:p>
          <a:p>
            <a:pPr>
              <a:defRPr sz="950">
                <a:solidFill>
                  <a:srgbClr val="475569"/>
                </a:solidFill>
              </a:defRPr>
            </a:pPr>
            <a:r>
              <a:t>10,814 / 11,343 correct predictions on held-out test set.</a:t>
            </a:r>
          </a:p>
        </p:txBody>
      </p:sp>
      <p:sp>
        <p:nvSpPr>
          <p:cNvPr id="7" name="Rounded Rectangle 6"/>
          <p:cNvSpPr/>
          <p:nvPr/>
        </p:nvSpPr>
        <p:spPr>
          <a:xfrm>
            <a:off x="3429000" y="1645920"/>
            <a:ext cx="2606040" cy="14630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29000" y="1645920"/>
            <a:ext cx="2606040"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1783080"/>
            <a:ext cx="2331720" cy="1188720"/>
          </a:xfrm>
          <a:prstGeom prst="rect">
            <a:avLst/>
          </a:prstGeom>
          <a:noFill/>
        </p:spPr>
        <p:txBody>
          <a:bodyPr wrap="square">
            <a:spAutoFit/>
          </a:bodyPr>
          <a:lstStyle/>
          <a:p>
            <a:pPr>
              <a:defRPr sz="2800" b="1">
                <a:solidFill>
                  <a:srgbClr val="16A34A"/>
                </a:solidFill>
              </a:defRPr>
            </a:pPr>
            <a:r>
              <a:t>95.02%</a:t>
            </a:r>
          </a:p>
          <a:p>
            <a:pPr>
              <a:defRPr sz="1200" b="1">
                <a:solidFill>
                  <a:srgbClr val="0F172A"/>
                </a:solidFill>
              </a:defRPr>
            </a:pPr>
            <a:r>
              <a:t>Precision Score</a:t>
            </a:r>
          </a:p>
          <a:p>
            <a:pPr>
              <a:defRPr sz="950">
                <a:solidFill>
                  <a:srgbClr val="475569"/>
                </a:solidFill>
              </a:defRPr>
            </a:pPr>
            <a:r>
              <a:t>High confidence: minimizes false positive misclassifications.</a:t>
            </a:r>
          </a:p>
        </p:txBody>
      </p:sp>
      <p:sp>
        <p:nvSpPr>
          <p:cNvPr id="10" name="Rounded Rectangle 9"/>
          <p:cNvSpPr/>
          <p:nvPr/>
        </p:nvSpPr>
        <p:spPr>
          <a:xfrm>
            <a:off x="6126480" y="1645920"/>
            <a:ext cx="2606040" cy="14630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645920"/>
            <a:ext cx="260604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783080"/>
            <a:ext cx="2331720" cy="1188720"/>
          </a:xfrm>
          <a:prstGeom prst="rect">
            <a:avLst/>
          </a:prstGeom>
          <a:noFill/>
        </p:spPr>
        <p:txBody>
          <a:bodyPr wrap="square">
            <a:spAutoFit/>
          </a:bodyPr>
          <a:lstStyle/>
          <a:p>
            <a:pPr>
              <a:defRPr sz="2800" b="1">
                <a:solidFill>
                  <a:srgbClr val="0E7490"/>
                </a:solidFill>
              </a:defRPr>
            </a:pPr>
            <a:r>
              <a:t>98.15%</a:t>
            </a:r>
          </a:p>
          <a:p>
            <a:pPr>
              <a:defRPr sz="1200" b="1">
                <a:solidFill>
                  <a:srgbClr val="0F172A"/>
                </a:solidFill>
              </a:defRPr>
            </a:pPr>
            <a:r>
              <a:t>Recall Score</a:t>
            </a:r>
          </a:p>
          <a:p>
            <a:pPr>
              <a:defRPr sz="950">
                <a:solidFill>
                  <a:srgbClr val="475569"/>
                </a:solidFill>
              </a:defRPr>
            </a:pPr>
            <a:r>
              <a:t>Comprehensive coverage: detects 98% of all true articles.</a:t>
            </a:r>
          </a:p>
        </p:txBody>
      </p:sp>
      <p:sp>
        <p:nvSpPr>
          <p:cNvPr id="13" name="Rounded Rectangle 12"/>
          <p:cNvSpPr/>
          <p:nvPr/>
        </p:nvSpPr>
        <p:spPr>
          <a:xfrm>
            <a:off x="8823960" y="1645920"/>
            <a:ext cx="2606040" cy="14630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823960" y="1645920"/>
            <a:ext cx="2606040" cy="7315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1783080"/>
            <a:ext cx="2331720" cy="1188720"/>
          </a:xfrm>
          <a:prstGeom prst="rect">
            <a:avLst/>
          </a:prstGeom>
          <a:noFill/>
        </p:spPr>
        <p:txBody>
          <a:bodyPr wrap="square">
            <a:spAutoFit/>
          </a:bodyPr>
          <a:lstStyle/>
          <a:p>
            <a:pPr>
              <a:defRPr sz="2800" b="1">
                <a:solidFill>
                  <a:srgbClr val="6D28D9"/>
                </a:solidFill>
              </a:defRPr>
            </a:pPr>
            <a:r>
              <a:t>96.56%</a:t>
            </a:r>
          </a:p>
          <a:p>
            <a:pPr>
              <a:defRPr sz="1200" b="1">
                <a:solidFill>
                  <a:srgbClr val="0F172A"/>
                </a:solidFill>
              </a:defRPr>
            </a:pPr>
            <a:r>
              <a:t>F1-Score</a:t>
            </a:r>
          </a:p>
          <a:p>
            <a:pPr>
              <a:defRPr sz="950">
                <a:solidFill>
                  <a:srgbClr val="475569"/>
                </a:solidFill>
              </a:defRPr>
            </a:pPr>
            <a:r>
              <a:t>Balanced harmonic mean across both classes.</a:t>
            </a:r>
          </a:p>
        </p:txBody>
      </p:sp>
      <p:sp>
        <p:nvSpPr>
          <p:cNvPr id="16" name="Rounded Rectangle 15"/>
          <p:cNvSpPr/>
          <p:nvPr/>
        </p:nvSpPr>
        <p:spPr>
          <a:xfrm>
            <a:off x="731520" y="3291840"/>
            <a:ext cx="5212080"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429000"/>
            <a:ext cx="4846320" cy="2560320"/>
          </a:xfrm>
          <a:prstGeom prst="rect">
            <a:avLst/>
          </a:prstGeom>
          <a:noFill/>
        </p:spPr>
        <p:txBody>
          <a:bodyPr wrap="square">
            <a:spAutoFit/>
          </a:bodyPr>
          <a:lstStyle/>
          <a:p>
            <a:pPr>
              <a:defRPr sz="1100" b="1">
                <a:solidFill>
                  <a:srgbClr val="2563EB"/>
                </a:solidFill>
              </a:defRPr>
            </a:pPr>
            <a:r>
              <a:t>CONFUSION MATRIX ON HELD-OUT TEST DATA (11,343 SAMPLES)</a:t>
            </a:r>
          </a:p>
          <a:p>
            <a:pPr>
              <a:defRPr sz="1050">
                <a:solidFill>
                  <a:srgbClr val="475569"/>
                </a:solidFill>
              </a:defRPr>
            </a:pPr>
            <a:r>
              <a:t>• True Fake Correctly Detected (TN): 3,394 articles</a:t>
            </a:r>
            <a:br/>
            <a:r>
              <a:t>• False Positives (Fake predicted as Real): 389 articles</a:t>
            </a:r>
            <a:br/>
            <a:r>
              <a:t>• False Negatives (Real predicted as Fake): 140 articles</a:t>
            </a:r>
            <a:br/>
            <a:r>
              <a:t>• True Real Correctly Detected (TP): 7,420 articles</a:t>
            </a:r>
            <a:br/>
            <a:br/>
            <a:r>
              <a:t>Key Takeaway:</a:t>
            </a:r>
            <a:br/>
            <a:r>
              <a:t>Extremely low False Negative rate (only 1.85%) ensures genuine news is rarely rejected, while maintaining over 95% precision.</a:t>
            </a:r>
          </a:p>
        </p:txBody>
      </p:sp>
      <p:sp>
        <p:nvSpPr>
          <p:cNvPr id="18" name="Rounded Rectangle 17"/>
          <p:cNvSpPr/>
          <p:nvPr/>
        </p:nvSpPr>
        <p:spPr>
          <a:xfrm>
            <a:off x="6217920" y="3291840"/>
            <a:ext cx="5212080"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429000"/>
            <a:ext cx="4846320" cy="2560320"/>
          </a:xfrm>
          <a:prstGeom prst="rect">
            <a:avLst/>
          </a:prstGeom>
          <a:noFill/>
        </p:spPr>
        <p:txBody>
          <a:bodyPr wrap="square">
            <a:spAutoFit/>
          </a:bodyPr>
          <a:lstStyle/>
          <a:p>
            <a:pPr>
              <a:defRPr sz="1100" b="1">
                <a:solidFill>
                  <a:srgbClr val="2563EB"/>
                </a:solidFill>
              </a:defRPr>
            </a:pPr>
            <a:r>
              <a:t>BENCHMARK ALGORITHM COMPARISON</a:t>
            </a:r>
          </a:p>
          <a:p>
            <a:pPr>
              <a:defRPr sz="1050">
                <a:solidFill>
                  <a:srgbClr val="0F172A"/>
                </a:solidFill>
              </a:defRPr>
            </a:pPr>
            <a:r>
              <a:t>Model                           Accuracy     Precision    Recall      F1-Score</a:t>
            </a:r>
            <a:br/>
            <a:r>
              <a:t>--------------------------------------------------------------------------</a:t>
            </a:r>
            <a:br/>
            <a:r>
              <a:t>Multinomial Naive Bayes          87.40%       86.20%       91.10%      88.58%</a:t>
            </a:r>
            <a:br/>
            <a:r>
              <a:t>Logistic Regression              92.85%       91.90%       95.40%      93.62%</a:t>
            </a:r>
            <a:br/>
            <a:r>
              <a:t>Linear SVM (Selected)           95.34%       95.02%       98.15%      96.56%</a:t>
            </a:r>
            <a:br/>
            <a:br/>
            <a:r>
              <a:t>Conclusion:</a:t>
            </a:r>
            <a:br/>
            <a:r>
              <a:t>Linear SVM delivered the highest overall accuracy (+2.49% over Logistic Regression) and best handled the sparse TF-IDF text representation.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2563EB"/>
                </a:solidFill>
                <a:latin typeface="Segoe UI"/>
              </a:defRPr>
            </a:pPr>
            <a:r>
              <a:t>FAKE NEWS DETECTION SYSTEM</a:t>
            </a:r>
          </a:p>
          <a:p>
            <a:pPr>
              <a:defRPr sz="2600" b="1">
                <a:solidFill>
                  <a:srgbClr val="0F172A"/>
                </a:solidFill>
                <a:latin typeface="Segoe UI"/>
              </a:defRPr>
            </a:pPr>
            <a:r>
              <a:t>Real-Time Verification Case Studies &amp; Robustness</a:t>
            </a:r>
          </a:p>
        </p:txBody>
      </p:sp>
      <p:sp>
        <p:nvSpPr>
          <p:cNvPr id="3" name="TextBox 2"/>
          <p:cNvSpPr txBox="1"/>
          <p:nvPr/>
        </p:nvSpPr>
        <p:spPr>
          <a:xfrm>
            <a:off x="731520" y="6400800"/>
            <a:ext cx="10728655" cy="365760"/>
          </a:xfrm>
          <a:prstGeom prst="rect">
            <a:avLst/>
          </a:prstGeom>
          <a:noFill/>
        </p:spPr>
        <p:txBody>
          <a:bodyPr wrap="none" lIns="0" tIns="0" rIns="0" bIns="0">
            <a:spAutoFit/>
          </a:bodyPr>
          <a:lstStyle/>
          <a:p>
            <a:pPr>
              <a:defRPr sz="1000">
                <a:solidFill>
                  <a:srgbClr val="94A3B8"/>
                </a:solidFill>
                <a:latin typeface="Segoe UI"/>
              </a:defRPr>
            </a:pPr>
            <a:r>
              <a:t>Autonomous Fake News Detection System | Hybrid ML &amp; Real-Time Live Web Verification               Slide 13</a:t>
            </a:r>
          </a:p>
        </p:txBody>
      </p:sp>
      <p:graphicFrame>
        <p:nvGraphicFramePr>
          <p:cNvPr id="4" name="Table 3"/>
          <p:cNvGraphicFramePr>
            <a:graphicFrameLocks noGrp="1"/>
          </p:cNvGraphicFramePr>
          <p:nvPr/>
        </p:nvGraphicFramePr>
        <p:xfrm>
          <a:off x="731520" y="1645920"/>
          <a:ext cx="10728655" cy="4480560"/>
        </p:xfrm>
        <a:graphic>
          <a:graphicData uri="http://schemas.openxmlformats.org/drawingml/2006/table">
            <a:tbl>
              <a:tblPr firstRow="1" bandRow="1">
                <a:tableStyleId>{5C22544A-7EE6-4342-B048-85BDC9FD1C3A}</a:tableStyleId>
              </a:tblPr>
              <a:tblGrid>
                <a:gridCol w="3474720"/>
                <a:gridCol w="1097280"/>
                <a:gridCol w="3474720"/>
                <a:gridCol w="2681935"/>
              </a:tblGrid>
              <a:tr h="448056">
                <a:tc>
                  <a:txBody>
                    <a:bodyPr/>
                    <a:lstStyle/>
                    <a:p>
                      <a:pPr>
                        <a:defRPr sz="1100" b="1">
                          <a:solidFill>
                            <a:srgbClr val="FFFFFF"/>
                          </a:solidFill>
                        </a:defRPr>
                      </a:pPr>
                      <a:r>
                        <a:t>Test Claim Submitted</a:t>
                      </a:r>
                    </a:p>
                  </a:txBody>
                  <a:tcPr>
                    <a:solidFill>
                      <a:srgbClr val="0F172A"/>
                    </a:solidFill>
                  </a:tcPr>
                </a:tc>
                <a:tc>
                  <a:txBody>
                    <a:bodyPr/>
                    <a:lstStyle/>
                    <a:p>
                      <a:pPr>
                        <a:defRPr sz="1100" b="1">
                          <a:solidFill>
                            <a:srgbClr val="FFFFFF"/>
                          </a:solidFill>
                        </a:defRPr>
                      </a:pPr>
                      <a:r>
                        <a:t>Result</a:t>
                      </a:r>
                    </a:p>
                  </a:txBody>
                  <a:tcPr>
                    <a:solidFill>
                      <a:srgbClr val="0F172A"/>
                    </a:solidFill>
                  </a:tcPr>
                </a:tc>
                <a:tc>
                  <a:txBody>
                    <a:bodyPr/>
                    <a:lstStyle/>
                    <a:p>
                      <a:pPr>
                        <a:defRPr sz="1100" b="1">
                          <a:solidFill>
                            <a:srgbClr val="FFFFFF"/>
                          </a:solidFill>
                        </a:defRPr>
                      </a:pPr>
                      <a:r>
                        <a:t>Live Ground-Truth Evidence</a:t>
                      </a:r>
                    </a:p>
                  </a:txBody>
                  <a:tcPr>
                    <a:solidFill>
                      <a:srgbClr val="0F172A"/>
                    </a:solidFill>
                  </a:tcPr>
                </a:tc>
                <a:tc>
                  <a:txBody>
                    <a:bodyPr/>
                    <a:lstStyle/>
                    <a:p>
                      <a:pPr>
                        <a:defRPr sz="1100" b="1">
                          <a:solidFill>
                            <a:srgbClr val="FFFFFF"/>
                          </a:solidFill>
                        </a:defRPr>
                      </a:pPr>
                      <a:r>
                        <a:t>Engineering Mechanism</a:t>
                      </a:r>
                    </a:p>
                  </a:txBody>
                  <a:tcPr>
                    <a:solidFill>
                      <a:srgbClr val="0F172A"/>
                    </a:solidFill>
                  </a:tcPr>
                </a:tc>
              </a:tr>
              <a:tr h="448056">
                <a:tc>
                  <a:txBody>
                    <a:bodyPr/>
                    <a:lstStyle/>
                    <a:p>
                      <a:pPr>
                        <a:defRPr sz="950">
                          <a:latin typeface="Segoe UI"/>
                        </a:defRPr>
                      </a:pPr>
                      <a:r>
                        <a:t>"the ceo of indigo is phani"</a:t>
                      </a:r>
                    </a:p>
                  </a:txBody>
                  <a:tcPr>
                    <a:solidFill>
                      <a:srgbClr val="F8FAFC"/>
                    </a:solidFill>
                  </a:tcPr>
                </a:tc>
                <a:tc>
                  <a:txBody>
                    <a:bodyPr/>
                    <a:lstStyle/>
                    <a:p>
                      <a:pPr>
                        <a:defRPr sz="1000" b="1">
                          <a:latin typeface="Segoe UI"/>
                        </a:defRPr>
                      </a:pPr>
                      <a:r>
                        <a:t>🔴 FAKE</a:t>
                      </a:r>
                    </a:p>
                  </a:txBody>
                  <a:tcPr>
                    <a:solidFill>
                      <a:srgbClr val="F8FAFC"/>
                    </a:solidFill>
                  </a:tcPr>
                </a:tc>
                <a:tc>
                  <a:txBody>
                    <a:bodyPr/>
                    <a:lstStyle/>
                    <a:p>
                      <a:pPr>
                        <a:defRPr sz="950">
                          <a:solidFill>
                            <a:srgbClr val="475569"/>
                          </a:solidFill>
                        </a:defRPr>
                      </a:pPr>
                      <a:r>
                        <a:t>Cites Pieter Elbers (resigned 2026) / Rahul Bhatia</a:t>
                      </a:r>
                    </a:p>
                  </a:txBody>
                  <a:tcPr>
                    <a:solidFill>
                      <a:srgbClr val="F8FAFC"/>
                    </a:solidFill>
                  </a:tcPr>
                </a:tc>
                <a:tc>
                  <a:txBody>
                    <a:bodyPr/>
                    <a:lstStyle/>
                    <a:p>
                      <a:pPr>
                        <a:defRPr sz="950">
                          <a:solidFill>
                            <a:srgbClr val="2563EB"/>
                          </a:solidFill>
                        </a:defRPr>
                      </a:pPr>
                      <a:r>
                        <a:t>Strict token boundary stops false word match</a:t>
                      </a:r>
                    </a:p>
                  </a:txBody>
                  <a:tcPr>
                    <a:solidFill>
                      <a:srgbClr val="F8FAFC"/>
                    </a:solidFill>
                  </a:tcPr>
                </a:tc>
              </a:tr>
              <a:tr h="448056">
                <a:tc>
                  <a:txBody>
                    <a:bodyPr/>
                    <a:lstStyle/>
                    <a:p>
                      <a:pPr>
                        <a:defRPr sz="950">
                          <a:latin typeface="Segoe UI"/>
                        </a:defRPr>
                      </a:pPr>
                      <a:r>
                        <a:t>"the ceo of indigo is pieter elbers"</a:t>
                      </a:r>
                    </a:p>
                  </a:txBody>
                  <a:tcPr>
                    <a:solidFill>
                      <a:srgbClr val="FFFFFF"/>
                    </a:solidFill>
                  </a:tcPr>
                </a:tc>
                <a:tc>
                  <a:txBody>
                    <a:bodyPr/>
                    <a:lstStyle/>
                    <a:p>
                      <a:pPr>
                        <a:defRPr sz="1000" b="1">
                          <a:latin typeface="Segoe UI"/>
                        </a:defRPr>
                      </a:pPr>
                      <a:r>
                        <a:t>🟢 REAL</a:t>
                      </a:r>
                    </a:p>
                  </a:txBody>
                  <a:tcPr>
                    <a:solidFill>
                      <a:srgbClr val="FFFFFF"/>
                    </a:solidFill>
                  </a:tcPr>
                </a:tc>
                <a:tc>
                  <a:txBody>
                    <a:bodyPr/>
                    <a:lstStyle/>
                    <a:p>
                      <a:pPr>
                        <a:defRPr sz="950">
                          <a:solidFill>
                            <a:srgbClr val="475569"/>
                          </a:solidFill>
                        </a:defRPr>
                      </a:pPr>
                      <a:r>
                        <a:t>Live Wikipedia confirms Pieter Elbers as former CEO</a:t>
                      </a:r>
                    </a:p>
                  </a:txBody>
                  <a:tcPr>
                    <a:solidFill>
                      <a:srgbClr val="FFFFFF"/>
                    </a:solidFill>
                  </a:tcPr>
                </a:tc>
                <a:tc>
                  <a:txBody>
                    <a:bodyPr/>
                    <a:lstStyle/>
                    <a:p>
                      <a:pPr>
                        <a:defRPr sz="950">
                          <a:solidFill>
                            <a:srgbClr val="2563EB"/>
                          </a:solidFill>
                        </a:defRPr>
                      </a:pPr>
                      <a:r>
                        <a:t>Direct role-statement match</a:t>
                      </a:r>
                    </a:p>
                  </a:txBody>
                  <a:tcPr>
                    <a:solidFill>
                      <a:srgbClr val="FFFFFF"/>
                    </a:solidFill>
                  </a:tcPr>
                </a:tc>
              </a:tr>
              <a:tr h="448056">
                <a:tc>
                  <a:txBody>
                    <a:bodyPr/>
                    <a:lstStyle/>
                    <a:p>
                      <a:pPr>
                        <a:defRPr sz="950">
                          <a:latin typeface="Segoe UI"/>
                        </a:defRPr>
                      </a:pPr>
                      <a:r>
                        <a:t>"the music composer of kgf chapter one is anirudh"</a:t>
                      </a:r>
                    </a:p>
                  </a:txBody>
                  <a:tcPr>
                    <a:solidFill>
                      <a:srgbClr val="F8FAFC"/>
                    </a:solidFill>
                  </a:tcPr>
                </a:tc>
                <a:tc>
                  <a:txBody>
                    <a:bodyPr/>
                    <a:lstStyle/>
                    <a:p>
                      <a:pPr>
                        <a:defRPr sz="1000" b="1">
                          <a:latin typeface="Segoe UI"/>
                        </a:defRPr>
                      </a:pPr>
                      <a:r>
                        <a:t>🔴 FAKE</a:t>
                      </a:r>
                    </a:p>
                  </a:txBody>
                  <a:tcPr>
                    <a:solidFill>
                      <a:srgbClr val="F8FAFC"/>
                    </a:solidFill>
                  </a:tcPr>
                </a:tc>
                <a:tc>
                  <a:txBody>
                    <a:bodyPr/>
                    <a:lstStyle/>
                    <a:p>
                      <a:pPr>
                        <a:defRPr sz="950">
                          <a:solidFill>
                            <a:srgbClr val="475569"/>
                          </a:solidFill>
                        </a:defRPr>
                      </a:pPr>
                      <a:r>
                        <a:t>Wikipedia credits Ravi Basrur for KGF score &amp; album</a:t>
                      </a:r>
                    </a:p>
                  </a:txBody>
                  <a:tcPr>
                    <a:solidFill>
                      <a:srgbClr val="F8FAFC"/>
                    </a:solidFill>
                  </a:tcPr>
                </a:tc>
                <a:tc>
                  <a:txBody>
                    <a:bodyPr/>
                    <a:lstStyle/>
                    <a:p>
                      <a:pPr>
                        <a:defRPr sz="950">
                          <a:solidFill>
                            <a:srgbClr val="2563EB"/>
                          </a:solidFill>
                        </a:defRPr>
                      </a:pPr>
                      <a:r>
                        <a:t>Zero hallucination (avoids Beast film)</a:t>
                      </a:r>
                    </a:p>
                  </a:txBody>
                  <a:tcPr>
                    <a:solidFill>
                      <a:srgbClr val="F8FAFC"/>
                    </a:solidFill>
                  </a:tcPr>
                </a:tc>
              </a:tr>
              <a:tr h="448056">
                <a:tc>
                  <a:txBody>
                    <a:bodyPr/>
                    <a:lstStyle/>
                    <a:p>
                      <a:pPr>
                        <a:defRPr sz="950">
                          <a:latin typeface="Segoe UI"/>
                        </a:defRPr>
                      </a:pPr>
                      <a:r>
                        <a:t>"the music composer of kgf chapter one is ravi bhasur"</a:t>
                      </a:r>
                    </a:p>
                  </a:txBody>
                  <a:tcPr>
                    <a:solidFill>
                      <a:srgbClr val="FFFFFF"/>
                    </a:solidFill>
                  </a:tcPr>
                </a:tc>
                <a:tc>
                  <a:txBody>
                    <a:bodyPr/>
                    <a:lstStyle/>
                    <a:p>
                      <a:pPr>
                        <a:defRPr sz="1000" b="1">
                          <a:latin typeface="Segoe UI"/>
                        </a:defRPr>
                      </a:pPr>
                      <a:r>
                        <a:t>🟢 REAL</a:t>
                      </a:r>
                    </a:p>
                  </a:txBody>
                  <a:tcPr>
                    <a:solidFill>
                      <a:srgbClr val="FFFFFF"/>
                    </a:solidFill>
                  </a:tcPr>
                </a:tc>
                <a:tc>
                  <a:txBody>
                    <a:bodyPr/>
                    <a:lstStyle/>
                    <a:p>
                      <a:pPr>
                        <a:defRPr sz="950">
                          <a:solidFill>
                            <a:srgbClr val="475569"/>
                          </a:solidFill>
                        </a:defRPr>
                      </a:pPr>
                      <a:r>
                        <a:t>Phonetic transliteration match with Ravi Basrur</a:t>
                      </a:r>
                    </a:p>
                  </a:txBody>
                  <a:tcPr>
                    <a:solidFill>
                      <a:srgbClr val="FFFFFF"/>
                    </a:solidFill>
                  </a:tcPr>
                </a:tc>
                <a:tc>
                  <a:txBody>
                    <a:bodyPr/>
                    <a:lstStyle/>
                    <a:p>
                      <a:pPr>
                        <a:defRPr sz="950">
                          <a:solidFill>
                            <a:srgbClr val="2563EB"/>
                          </a:solidFill>
                        </a:defRPr>
                      </a:pPr>
                      <a:r>
                        <a:t>Fuzzy token similarity &gt; 91%</a:t>
                      </a:r>
                    </a:p>
                  </a:txBody>
                  <a:tcPr>
                    <a:solidFill>
                      <a:srgbClr val="FFFFFF"/>
                    </a:solidFill>
                  </a:tcPr>
                </a:tc>
              </a:tr>
              <a:tr h="448056">
                <a:tc>
                  <a:txBody>
                    <a:bodyPr/>
                    <a:lstStyle/>
                    <a:p>
                      <a:pPr>
                        <a:defRPr sz="950">
                          <a:latin typeface="Segoe UI"/>
                        </a:defRPr>
                      </a:pPr>
                      <a:r>
                        <a:t>"the ceo of jio stduios is phani"</a:t>
                      </a:r>
                    </a:p>
                  </a:txBody>
                  <a:tcPr>
                    <a:solidFill>
                      <a:srgbClr val="F8FAFC"/>
                    </a:solidFill>
                  </a:tcPr>
                </a:tc>
                <a:tc>
                  <a:txBody>
                    <a:bodyPr/>
                    <a:lstStyle/>
                    <a:p>
                      <a:pPr>
                        <a:defRPr sz="1000" b="1">
                          <a:latin typeface="Segoe UI"/>
                        </a:defRPr>
                      </a:pPr>
                      <a:r>
                        <a:t>🔴 FAKE</a:t>
                      </a:r>
                    </a:p>
                  </a:txBody>
                  <a:tcPr>
                    <a:solidFill>
                      <a:srgbClr val="F8FAFC"/>
                    </a:solidFill>
                  </a:tcPr>
                </a:tc>
                <a:tc>
                  <a:txBody>
                    <a:bodyPr/>
                    <a:lstStyle/>
                    <a:p>
                      <a:pPr>
                        <a:defRPr sz="950">
                          <a:solidFill>
                            <a:srgbClr val="475569"/>
                          </a:solidFill>
                        </a:defRPr>
                      </a:pPr>
                      <a:r>
                        <a:t>Auto-corrects 'stduios' -&gt; 'studios', cites Jyoti Deshpande</a:t>
                      </a:r>
                    </a:p>
                  </a:txBody>
                  <a:tcPr>
                    <a:solidFill>
                      <a:srgbClr val="F8FAFC"/>
                    </a:solidFill>
                  </a:tcPr>
                </a:tc>
                <a:tc>
                  <a:txBody>
                    <a:bodyPr/>
                    <a:lstStyle/>
                    <a:p>
                      <a:pPr>
                        <a:defRPr sz="950">
                          <a:solidFill>
                            <a:srgbClr val="2563EB"/>
                          </a:solidFill>
                        </a:defRPr>
                      </a:pPr>
                      <a:r>
                        <a:t>Silent search suggestion correction</a:t>
                      </a:r>
                    </a:p>
                  </a:txBody>
                  <a:tcPr>
                    <a:solidFill>
                      <a:srgbClr val="F8FAFC"/>
                    </a:solidFill>
                  </a:tcPr>
                </a:tc>
              </a:tr>
              <a:tr h="448056">
                <a:tc>
                  <a:txBody>
                    <a:bodyPr/>
                    <a:lstStyle/>
                    <a:p>
                      <a:pPr>
                        <a:defRPr sz="950">
                          <a:latin typeface="Segoe UI"/>
                        </a:defRPr>
                      </a:pPr>
                      <a:r>
                        <a:t>"the director of jailer is nelson dilipkumar"</a:t>
                      </a:r>
                    </a:p>
                  </a:txBody>
                  <a:tcPr>
                    <a:solidFill>
                      <a:srgbClr val="FFFFFF"/>
                    </a:solidFill>
                  </a:tcPr>
                </a:tc>
                <a:tc>
                  <a:txBody>
                    <a:bodyPr/>
                    <a:lstStyle/>
                    <a:p>
                      <a:pPr>
                        <a:defRPr sz="1000" b="1">
                          <a:latin typeface="Segoe UI"/>
                        </a:defRPr>
                      </a:pPr>
                      <a:r>
                        <a:t>🟢 REAL</a:t>
                      </a:r>
                    </a:p>
                  </a:txBody>
                  <a:tcPr>
                    <a:solidFill>
                      <a:srgbClr val="FFFFFF"/>
                    </a:solidFill>
                  </a:tcPr>
                </a:tc>
                <a:tc>
                  <a:txBody>
                    <a:bodyPr/>
                    <a:lstStyle/>
                    <a:p>
                      <a:pPr>
                        <a:defRPr sz="950">
                          <a:solidFill>
                            <a:srgbClr val="475569"/>
                          </a:solidFill>
                        </a:defRPr>
                      </a:pPr>
                      <a:r>
                        <a:t>Confirmed: Nelson Dilipkumar directed Jailer</a:t>
                      </a:r>
                    </a:p>
                  </a:txBody>
                  <a:tcPr>
                    <a:solidFill>
                      <a:srgbClr val="FFFFFF"/>
                    </a:solidFill>
                  </a:tcPr>
                </a:tc>
                <a:tc>
                  <a:txBody>
                    <a:bodyPr/>
                    <a:lstStyle/>
                    <a:p>
                      <a:pPr>
                        <a:defRPr sz="950">
                          <a:solidFill>
                            <a:srgbClr val="2563EB"/>
                          </a:solidFill>
                        </a:defRPr>
                      </a:pPr>
                      <a:r>
                        <a:t>Entertainment credit extraction</a:t>
                      </a:r>
                    </a:p>
                  </a:txBody>
                  <a:tcPr>
                    <a:solidFill>
                      <a:srgbClr val="FFFFFF"/>
                    </a:solidFill>
                  </a:tcPr>
                </a:tc>
              </a:tr>
              <a:tr h="448056">
                <a:tc>
                  <a:txBody>
                    <a:bodyPr/>
                    <a:lstStyle/>
                    <a:p>
                      <a:pPr>
                        <a:defRPr sz="950">
                          <a:latin typeface="Segoe UI"/>
                        </a:defRPr>
                      </a:pPr>
                      <a:r>
                        <a:t>"the prime minister of india is rahul gandhi"</a:t>
                      </a:r>
                    </a:p>
                  </a:txBody>
                  <a:tcPr>
                    <a:solidFill>
                      <a:srgbClr val="F8FAFC"/>
                    </a:solidFill>
                  </a:tcPr>
                </a:tc>
                <a:tc>
                  <a:txBody>
                    <a:bodyPr/>
                    <a:lstStyle/>
                    <a:p>
                      <a:pPr>
                        <a:defRPr sz="1000" b="1">
                          <a:latin typeface="Segoe UI"/>
                        </a:defRPr>
                      </a:pPr>
                      <a:r>
                        <a:t>🔴 FAKE</a:t>
                      </a:r>
                    </a:p>
                  </a:txBody>
                  <a:tcPr>
                    <a:solidFill>
                      <a:srgbClr val="F8FAFC"/>
                    </a:solidFill>
                  </a:tcPr>
                </a:tc>
                <a:tc>
                  <a:txBody>
                    <a:bodyPr/>
                    <a:lstStyle/>
                    <a:p>
                      <a:pPr>
                        <a:defRPr sz="950">
                          <a:solidFill>
                            <a:srgbClr val="475569"/>
                          </a:solidFill>
                        </a:defRPr>
                      </a:pPr>
                      <a:r>
                        <a:t>Identifies Narendra Modi as incumbent Prime Minister</a:t>
                      </a:r>
                    </a:p>
                  </a:txBody>
                  <a:tcPr>
                    <a:solidFill>
                      <a:srgbClr val="F8FAFC"/>
                    </a:solidFill>
                  </a:tcPr>
                </a:tc>
                <a:tc>
                  <a:txBody>
                    <a:bodyPr/>
                    <a:lstStyle/>
                    <a:p>
                      <a:pPr>
                        <a:defRPr sz="950">
                          <a:solidFill>
                            <a:srgbClr val="2563EB"/>
                          </a:solidFill>
                        </a:defRPr>
                      </a:pPr>
                      <a:r>
                        <a:t>Rejects non-incumbent leadership claim</a:t>
                      </a:r>
                    </a:p>
                  </a:txBody>
                  <a:tcPr>
                    <a:solidFill>
                      <a:srgbClr val="F8FAFC"/>
                    </a:solidFill>
                  </a:tcPr>
                </a:tc>
              </a:tr>
              <a:tr h="448056">
                <a:tc>
                  <a:txBody>
                    <a:bodyPr/>
                    <a:lstStyle/>
                    <a:p>
                      <a:pPr>
                        <a:defRPr sz="950">
                          <a:latin typeface="Segoe UI"/>
                        </a:defRPr>
                      </a:pPr>
                      <a:r>
                        <a:t>"capital of telangana is andhra"</a:t>
                      </a:r>
                    </a:p>
                  </a:txBody>
                  <a:tcPr>
                    <a:solidFill>
                      <a:srgbClr val="FFFFFF"/>
                    </a:solidFill>
                  </a:tcPr>
                </a:tc>
                <a:tc>
                  <a:txBody>
                    <a:bodyPr/>
                    <a:lstStyle/>
                    <a:p>
                      <a:pPr>
                        <a:defRPr sz="1000" b="1">
                          <a:latin typeface="Segoe UI"/>
                        </a:defRPr>
                      </a:pPr>
                      <a:r>
                        <a:t>🔴 FAKE</a:t>
                      </a:r>
                    </a:p>
                  </a:txBody>
                  <a:tcPr>
                    <a:solidFill>
                      <a:srgbClr val="FFFFFF"/>
                    </a:solidFill>
                  </a:tcPr>
                </a:tc>
                <a:tc>
                  <a:txBody>
                    <a:bodyPr/>
                    <a:lstStyle/>
                    <a:p>
                      <a:pPr>
                        <a:defRPr sz="950">
                          <a:solidFill>
                            <a:srgbClr val="475569"/>
                          </a:solidFill>
                        </a:defRPr>
                      </a:pPr>
                      <a:r>
                        <a:t>Correctly identifies Hyderabad as capital</a:t>
                      </a:r>
                    </a:p>
                  </a:txBody>
                  <a:tcPr>
                    <a:solidFill>
                      <a:srgbClr val="FFFFFF"/>
                    </a:solidFill>
                  </a:tcPr>
                </a:tc>
                <a:tc>
                  <a:txBody>
                    <a:bodyPr/>
                    <a:lstStyle/>
                    <a:p>
                      <a:pPr>
                        <a:defRPr sz="950">
                          <a:solidFill>
                            <a:srgbClr val="2563EB"/>
                          </a:solidFill>
                        </a:defRPr>
                      </a:pPr>
                      <a:r>
                        <a:t>Capitals relational verification</a:t>
                      </a:r>
                    </a:p>
                  </a:txBody>
                  <a:tcPr>
                    <a:solidFill>
                      <a:srgbClr val="FFFFFF"/>
                    </a:solidFill>
                  </a:tcPr>
                </a:tc>
              </a:tr>
              <a:tr h="448056">
                <a:tc>
                  <a:txBody>
                    <a:bodyPr/>
                    <a:lstStyle/>
                    <a:p>
                      <a:pPr>
                        <a:defRPr sz="950">
                          <a:latin typeface="Segoe UI"/>
                        </a:defRPr>
                      </a:pPr>
                      <a:r>
                        <a:t>"india is a continent"</a:t>
                      </a:r>
                    </a:p>
                  </a:txBody>
                  <a:tcPr>
                    <a:solidFill>
                      <a:srgbClr val="F8FAFC"/>
                    </a:solidFill>
                  </a:tcPr>
                </a:tc>
                <a:tc>
                  <a:txBody>
                    <a:bodyPr/>
                    <a:lstStyle/>
                    <a:p>
                      <a:pPr>
                        <a:defRPr sz="1000" b="1">
                          <a:latin typeface="Segoe UI"/>
                        </a:defRPr>
                      </a:pPr>
                      <a:r>
                        <a:t>🔴 FAKE</a:t>
                      </a:r>
                    </a:p>
                  </a:txBody>
                  <a:tcPr>
                    <a:solidFill>
                      <a:srgbClr val="F8FAFC"/>
                    </a:solidFill>
                  </a:tcPr>
                </a:tc>
                <a:tc>
                  <a:txBody>
                    <a:bodyPr/>
                    <a:lstStyle/>
                    <a:p>
                      <a:pPr>
                        <a:defRPr sz="950">
                          <a:solidFill>
                            <a:srgbClr val="475569"/>
                          </a:solidFill>
                        </a:defRPr>
                      </a:pPr>
                      <a:r>
                        <a:t>Identifies India as country; cites 7 continents</a:t>
                      </a:r>
                    </a:p>
                  </a:txBody>
                  <a:tcPr>
                    <a:solidFill>
                      <a:srgbClr val="F8FAFC"/>
                    </a:solidFill>
                  </a:tcPr>
                </a:tc>
                <a:tc>
                  <a:txBody>
                    <a:bodyPr/>
                    <a:lstStyle/>
                    <a:p>
                      <a:pPr>
                        <a:defRPr sz="950">
                          <a:solidFill>
                            <a:srgbClr val="2563EB"/>
                          </a:solidFill>
                        </a:defRPr>
                      </a:pPr>
                      <a:r>
                        <a:t>Geographical category contradiction</a:t>
                      </a:r>
                    </a:p>
                  </a:txBody>
                  <a:tcPr>
                    <a:solidFill>
                      <a:srgbClr val="F8FAFC"/>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2563EB"/>
                </a:solidFill>
                <a:latin typeface="Segoe UI"/>
              </a:defRPr>
            </a:pPr>
            <a:r>
              <a:t>FAKE NEWS DETECTION SYSTEM</a:t>
            </a:r>
          </a:p>
          <a:p>
            <a:pPr>
              <a:defRPr sz="2600" b="1">
                <a:solidFill>
                  <a:srgbClr val="0F172A"/>
                </a:solidFill>
                <a:latin typeface="Segoe UI"/>
              </a:defRPr>
            </a:pPr>
            <a:r>
              <a:t>Conclusion &amp; Future Scope</a:t>
            </a:r>
          </a:p>
        </p:txBody>
      </p:sp>
      <p:sp>
        <p:nvSpPr>
          <p:cNvPr id="3" name="TextBox 2"/>
          <p:cNvSpPr txBox="1"/>
          <p:nvPr/>
        </p:nvSpPr>
        <p:spPr>
          <a:xfrm>
            <a:off x="731520" y="6400800"/>
            <a:ext cx="10728655" cy="365760"/>
          </a:xfrm>
          <a:prstGeom prst="rect">
            <a:avLst/>
          </a:prstGeom>
          <a:noFill/>
        </p:spPr>
        <p:txBody>
          <a:bodyPr wrap="none" lIns="0" tIns="0" rIns="0" bIns="0">
            <a:spAutoFit/>
          </a:bodyPr>
          <a:lstStyle/>
          <a:p>
            <a:pPr>
              <a:defRPr sz="1000">
                <a:solidFill>
                  <a:srgbClr val="94A3B8"/>
                </a:solidFill>
                <a:latin typeface="Segoe UI"/>
              </a:defRPr>
            </a:pPr>
            <a:r>
              <a:t>Autonomous Fake News Detection System | Hybrid ML &amp; Real-Time Live Web Verification               Slide 14</a:t>
            </a:r>
          </a:p>
        </p:txBody>
      </p:sp>
      <p:sp>
        <p:nvSpPr>
          <p:cNvPr id="4" name="Rounded Rectangle 3"/>
          <p:cNvSpPr/>
          <p:nvPr/>
        </p:nvSpPr>
        <p:spPr>
          <a:xfrm>
            <a:off x="731520" y="1645920"/>
            <a:ext cx="52120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663440" cy="4114800"/>
          </a:xfrm>
          <a:prstGeom prst="rect">
            <a:avLst/>
          </a:prstGeom>
          <a:noFill/>
        </p:spPr>
        <p:txBody>
          <a:bodyPr wrap="square">
            <a:spAutoFit/>
          </a:bodyPr>
          <a:lstStyle/>
          <a:p>
            <a:pPr>
              <a:defRPr sz="1100" b="1">
                <a:solidFill>
                  <a:srgbClr val="16A34A"/>
                </a:solidFill>
              </a:defRPr>
            </a:pPr>
            <a:r>
              <a:t>PROJECT CONTRIBUTIONS &amp; ACHIEVEMENTS</a:t>
            </a:r>
          </a:p>
          <a:p>
            <a:pPr>
              <a:defRPr sz="1800" b="1">
                <a:solidFill>
                  <a:srgbClr val="0F172A"/>
                </a:solidFill>
              </a:defRPr>
            </a:pPr>
            <a:r>
              <a:t>Key Takeaways &amp; Technical Impact</a:t>
            </a:r>
          </a:p>
          <a:p>
            <a:pPr>
              <a:defRPr sz="1100">
                <a:solidFill>
                  <a:srgbClr val="475569"/>
                </a:solidFill>
              </a:defRPr>
            </a:pPr>
            <a:r>
              <a:t>• Solved the Static ML Bottleneck: Integrated live Wikipedia Web API querying so the system is never constrained by training data age.</a:t>
            </a:r>
            <a:br/>
            <a:br/>
            <a:r>
              <a:t>• Zero Hallucination Entity Matching: Developed match_claimed_person to eliminate false dictionary matches (e.g. 'panic' matching 'phani').</a:t>
            </a:r>
            <a:br/>
            <a:br/>
            <a:r>
              <a:t>• High Machine Learning Efficacy: 95.34% test accuracy and 98.15% recall on 56,714 IFND news articles.</a:t>
            </a:r>
            <a:br/>
            <a:br/>
            <a:r>
              <a:t>• Transparent Explainability: Displays the authentic real fact and quotes the direct Wikipedia page source.</a:t>
            </a:r>
            <a:br/>
            <a:br/>
            <a:r>
              <a:t>• Production-Ready Deployment: Fully functional interactive Streamlit application with live reload.</a:t>
            </a:r>
          </a:p>
        </p:txBody>
      </p:sp>
      <p:sp>
        <p:nvSpPr>
          <p:cNvPr id="6" name="Rounded Rectangle 5"/>
          <p:cNvSpPr/>
          <p:nvPr/>
        </p:nvSpPr>
        <p:spPr>
          <a:xfrm>
            <a:off x="6217920" y="1645920"/>
            <a:ext cx="52120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663440" cy="4114800"/>
          </a:xfrm>
          <a:prstGeom prst="rect">
            <a:avLst/>
          </a:prstGeom>
          <a:noFill/>
        </p:spPr>
        <p:txBody>
          <a:bodyPr wrap="square">
            <a:spAutoFit/>
          </a:bodyPr>
          <a:lstStyle/>
          <a:p>
            <a:pPr>
              <a:defRPr sz="1100" b="1">
                <a:solidFill>
                  <a:srgbClr val="2563EB"/>
                </a:solidFill>
              </a:defRPr>
            </a:pPr>
            <a:r>
              <a:t>FUTURE ENHANCEMENTS</a:t>
            </a:r>
          </a:p>
          <a:p>
            <a:pPr>
              <a:defRPr sz="1800" b="1">
                <a:solidFill>
                  <a:srgbClr val="0F172A"/>
                </a:solidFill>
              </a:defRPr>
            </a:pPr>
            <a:r>
              <a:t>Roadmap for Future Research</a:t>
            </a:r>
          </a:p>
          <a:p>
            <a:pPr>
              <a:defRPr sz="1100">
                <a:solidFill>
                  <a:srgbClr val="475569"/>
                </a:solidFill>
              </a:defRPr>
            </a:pPr>
            <a:r>
              <a:t>1. Multimodal Fact-Checking:</a:t>
            </a:r>
            <a:br/>
            <a:r>
              <a:t>Extend detection to multimedia fake news by combining computer vision models to detect deepfakes and manipulated news images.</a:t>
            </a:r>
            <a:br/>
            <a:br/>
            <a:r>
              <a:t>2. Multilingual Indian Language Support:</a:t>
            </a:r>
            <a:br/>
            <a:r>
              <a:t>Incorporate mBERT and IndicBERT to natively verify vernacular news articles across Hindi, Telugu, Tamil, and Bengali.</a:t>
            </a:r>
            <a:br/>
            <a:br/>
            <a:r>
              <a:t>3. Browser Extension &amp; Social Media Plugin:</a:t>
            </a:r>
            <a:br/>
            <a:r>
              <a:t>Package the verification API into a lightweight browser add-on to flag unverified claims directly on Twitter/X, WhatsApp Web, and Reddit.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48495" cy="3200400"/>
          </a:xfrm>
          <a:prstGeom prst="rect">
            <a:avLst/>
          </a:prstGeom>
          <a:noFill/>
        </p:spPr>
        <p:txBody>
          <a:bodyPr wrap="square">
            <a:spAutoFit/>
          </a:bodyPr>
          <a:lstStyle/>
          <a:p>
            <a:pPr algn="ctr">
              <a:defRPr sz="4400" b="1">
                <a:solidFill>
                  <a:srgbClr val="2563EB"/>
                </a:solidFill>
                <a:latin typeface="Segoe UI"/>
              </a:defRPr>
            </a:pPr>
            <a:r>
              <a:t>THANK YOU!</a:t>
            </a:r>
          </a:p>
          <a:p>
            <a:pPr algn="ctr">
              <a:defRPr sz="2400" b="1">
                <a:solidFill>
                  <a:srgbClr val="FFFFFF"/>
                </a:solidFill>
                <a:latin typeface="Segoe UI"/>
              </a:defRPr>
            </a:pPr>
            <a:r>
              <a:t>Autonomous Fake News Detection System</a:t>
            </a:r>
          </a:p>
          <a:p>
            <a:pPr algn="ctr">
              <a:defRPr sz="1600">
                <a:solidFill>
                  <a:srgbClr val="CBD5E1"/>
                </a:solidFill>
                <a:latin typeface="Segoe UI"/>
              </a:defRPr>
            </a:pPr>
            <a:r>
              <a:t>Hybrid Machine Learning with Real-Time Live Web Fact Verification</a:t>
            </a:r>
            <a:br/>
          </a:p>
          <a:p>
            <a:pPr algn="ctr">
              <a:defRPr sz="1800" b="1">
                <a:solidFill>
                  <a:srgbClr val="16A34A"/>
                </a:solidFill>
                <a:latin typeface="Segoe UI"/>
              </a:defRPr>
            </a:pPr>
            <a:r>
              <a:t>Questions &amp; Feedback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